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heme/theme1.xml" ContentType="application/vnd.openxmlformats-officedocument.theme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p="http://schemas.openxmlformats.org/presentationml/2006/main" xmlns:a="http://schemas.openxmlformats.org/drawingml/2006/main" xmlns:r="http://schemas.openxmlformats.org/officeDocument/2006/relationships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sldSz cx="9144000" cy="5143500" type="screen16x9"/>
  <p:notesSz cx="6858000" cy="9144000"/>
</p:presentation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p="http://schemas.openxmlformats.org/presentationml/2006/main" xmlns:a="http://schemas.openxmlformats.org/drawingml/2006/main" xmlns:r="http://schemas.openxmlformats.org/officeDocument/2006/relationships" type="title" preserve="1">
  <p:cSld>
    <p:spTree>
      <p:nvGrpSpPr>
        <p:cNvPr id="1" name=""/>
        <p:cNvGrpSpPr/>
        <p:nvPr/>
      </p:nvGrpSpPr>
      <p:grpSpPr>
        <a:xfrm>
          <a:off x="0" y="0"/>
          <a: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</a:xfrm>
      </p:grpSpPr>
      <p:sp>
        <p:nvSpPr>
          <p:cNvPr id="2" name="Background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txBody>
          <a:bodyPr/>
          <a:lstStyle/>
          <a:p/>
        </p:txBody>
      </p:sp>
      <p:sp>
        <p:nvSpPr>
          <p:cNvPr id="3" name="Accent"/>
          <p:cNvSpPr/>
          <p:nvPr/>
        </p:nvSpPr>
        <p:spPr>
          <a:xfrm>
            <a:off x="0" y="0"/>
            <a:ext cx="9144000" cy="120000"/>
          </a:xfrm>
          <a:prstGeom prst="rect">
            <a:avLst/>
          </a:prstGeom>
          <a:solidFill>
            <a:srgbClr val="22D3EE"/>
          </a:solidFill>
          <a:ln>
            <a:noFill/>
          </a:ln>
        </p:spPr>
        <p:txBody>
          <a:bodyPr/>
          <a:lstStyle/>
          <a:p/>
        </p:txBody>
      </p:sp>
      <p:sp>
        <p:nvSpPr>
          <p:cNvPr id="4" name="Title"/>
          <p:cNvSpPr txBox="1"/>
          <p:nvPr/>
        </p:nvSpPr>
        <p:spPr>
          <a:xfrm>
            <a:off x="457200" y="228600"/>
            <a:ext cx="8229600" cy="685800"/>
          </a:xfrm>
          <a:prstGeom prst="rect">
            <a:avLst/>
          </a:prstGeom>
        </p:spPr>
        <p:txBody>
          <a:bodyPr wrap="square"/>
          <a:lstStyle/>
          <a:p>
            <a:pPr>
              <a:buNone/>
            </a:pPr>
            <a:r>
              <a:rPr sz="3600" b="1">
                <a:solidFill>
                  <a:srgbClr val="7DD3FC"/>
                </a:solidFill>
              </a:rPr>
              <a:t>MertFormer Titan</a:t>
            </a:r>
            <a:endParaRPr sz="3600"/>
          </a:p>
        </p:txBody>
      </p:sp>
      <p:sp>
        <p:nvSpPr>
          <p:cNvPr id="5" name="Body"/>
          <p:cNvSpPr txBox="1"/>
          <p:nvPr/>
        </p:nvSpPr>
        <p:spPr>
          <a:xfrm>
            <a:off x="685800" y="1200000"/>
            <a:ext cx="7772400" cy="3200000"/>
          </a:xfrm>
          <a:prstGeom prst="rect">
            <a:avLst/>
          </a:prstGeom>
        </p:spPr>
        <p:txBody>
          <a:bodyPr wrap="square"/>
          <a:lstStyle/>
          <a:p>
            <a:pPr>
              <a:buChar char="•"/>
            </a:pPr>
            <a:r>
              <a:rPr sz="2400">
                <a:solidFill>
                  <a:srgbClr val="E2E8F0"/>
                </a:solidFill>
              </a:rPr>
              <a:t>Edge-native coding model (2.64B design target)</a:t>
            </a:r>
            <a:endParaRPr sz="2400"/>
          </a:p>
          <a:p>
            <a:pPr>
              <a:buChar char="•"/>
            </a:pPr>
            <a:r>
              <a:rPr sz="2400">
                <a:solidFill>
                  <a:srgbClr val="E2E8F0"/>
                </a:solidFill>
              </a:rPr>
              <a:t>Current build runtime total: ~3.70B</a:t>
            </a:r>
            <a:endParaRPr sz="2400"/>
          </a:p>
          <a:p>
            <a:pPr>
              <a:buChar char="•"/>
            </a:pPr>
            <a:r>
              <a:rPr sz="2400">
                <a:solidFill>
                  <a:srgbClr val="E2E8F0"/>
                </a:solidFill>
              </a:rPr>
              <a:t>Operator-mode verified pipeline</a:t>
            </a:r>
            <a:endParaRPr sz="2400"/>
          </a:p>
          <a:p>
            <a:pPr>
              <a:buChar char="•"/>
            </a:pPr>
            <a:r>
              <a:rPr sz="2400">
                <a:solidFill>
                  <a:srgbClr val="E2E8F0"/>
                </a:solidFill>
              </a:rPr>
              <a:t>Offline-first, mobile compute focus</a:t>
            </a:r>
            <a:endParaRPr sz="2400"/>
          </a:p>
        </p:txBody>
      </p:sp>
      <p:sp>
        <p:nvSpPr>
          <p:cNvPr id="6" name="Footer"/>
          <p:cNvSpPr txBox="1"/>
          <p:nvPr/>
        </p:nvSpPr>
        <p:spPr>
          <a:xfrm>
            <a:off x="457200" y="4700000"/>
            <a:ext cx="8229600" cy="300000"/>
          </a:xfrm>
          <a:prstGeom prst="rect">
            <a:avLst/>
          </a:prstGeom>
        </p:spPr>
        <p:txBody>
          <a:bodyPr wrap="square"/>
          <a:lstStyle/>
          <a:p>
            <a:pPr>
              <a:buNone/>
            </a:pPr>
            <a:r>
              <a:rPr sz="1400">
                <a:solidFill>
                  <a:srgbClr val="94A3B8"/>
                </a:solidFill>
              </a:rPr>
              <a:t>Confidential — MertFormer Titan</a:t>
            </a:r>
            <a:endParaRPr sz="1400"/>
          </a:p>
        </p:txBody>
      </p:sp>
    </p:spTree>
  </p:cSld>
  <p:clrMapOvr>
    <a:masterClrMapping/>
  </p:clrMapOvr>
</p:sld>
</file>

<file path=ppt/slides/slide2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</a:xfrm>
      </p:grpSpPr>
      <p:sp>
        <p:nvSpPr>
          <p:cNvPr id="2" name="Background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txBody>
          <a:bodyPr/>
          <a:lstStyle/>
          <a:p/>
        </p:txBody>
      </p:sp>
      <p:sp>
        <p:nvSpPr>
          <p:cNvPr id="3" name="Accent"/>
          <p:cNvSpPr/>
          <p:nvPr/>
        </p:nvSpPr>
        <p:spPr>
          <a:xfrm>
            <a:off x="0" y="0"/>
            <a:ext cx="9144000" cy="120000"/>
          </a:xfrm>
          <a:prstGeom prst="rect">
            <a:avLst/>
          </a:prstGeom>
          <a:solidFill>
            <a:srgbClr val="22D3EE"/>
          </a:solidFill>
          <a:ln>
            <a:noFill/>
          </a:ln>
        </p:spPr>
        <p:txBody>
          <a:bodyPr/>
          <a:lstStyle/>
          <a:p/>
        </p:txBody>
      </p:sp>
      <p:sp>
        <p:nvSpPr>
          <p:cNvPr id="4" name="Title"/>
          <p:cNvSpPr txBox="1"/>
          <p:nvPr/>
        </p:nvSpPr>
        <p:spPr>
          <a:xfrm>
            <a:off x="457200" y="228600"/>
            <a:ext cx="8229600" cy="685800"/>
          </a:xfrm>
          <a:prstGeom prst="rect">
            <a:avLst/>
          </a:prstGeom>
        </p:spPr>
        <p:txBody>
          <a:bodyPr wrap="square"/>
          <a:lstStyle/>
          <a:p>
            <a:pPr>
              <a:buNone/>
            </a:pPr>
            <a:r>
              <a:rPr sz="3600" b="1">
                <a:solidFill>
                  <a:srgbClr val="7DD3FC"/>
                </a:solidFill>
              </a:rPr>
              <a:t>Problem</a:t>
            </a:r>
            <a:endParaRPr sz="3600"/>
          </a:p>
        </p:txBody>
      </p:sp>
      <p:sp>
        <p:nvSpPr>
          <p:cNvPr id="5" name="Body"/>
          <p:cNvSpPr txBox="1"/>
          <p:nvPr/>
        </p:nvSpPr>
        <p:spPr>
          <a:xfrm>
            <a:off x="685800" y="1200000"/>
            <a:ext cx="7772400" cy="3200000"/>
          </a:xfrm>
          <a:prstGeom prst="rect">
            <a:avLst/>
          </a:prstGeom>
        </p:spPr>
        <p:txBody>
          <a:bodyPr wrap="square"/>
          <a:lstStyle/>
          <a:p>
            <a:pPr>
              <a:buChar char="•"/>
            </a:pPr>
            <a:r>
              <a:rPr sz="2400">
                <a:solidFill>
                  <a:srgbClr val="E2E8F0"/>
                </a:solidFill>
              </a:rPr>
              <a:t>Cloud AI is costly and slow for regulated workflows</a:t>
            </a:r>
            <a:endParaRPr sz="2400"/>
          </a:p>
          <a:p>
            <a:pPr>
              <a:buChar char="•"/>
            </a:pPr>
            <a:r>
              <a:rPr sz="2400">
                <a:solidFill>
                  <a:srgbClr val="E2E8F0"/>
                </a:solidFill>
              </a:rPr>
              <a:t>Privacy and data sovereignty are hard to guarantee</a:t>
            </a:r>
            <a:endParaRPr sz="2400"/>
          </a:p>
          <a:p>
            <a:pPr>
              <a:buChar char="•"/>
            </a:pPr>
            <a:r>
              <a:rPr sz="2400">
                <a:solidFill>
                  <a:srgbClr val="E2E8F0"/>
                </a:solidFill>
              </a:rPr>
              <a:t>Latency blocks real-time, on-device coding</a:t>
            </a:r>
            <a:endParaRPr sz="2400"/>
          </a:p>
        </p:txBody>
      </p:sp>
      <p:sp>
        <p:nvSpPr>
          <p:cNvPr id="6" name="Footer"/>
          <p:cNvSpPr txBox="1"/>
          <p:nvPr/>
        </p:nvSpPr>
        <p:spPr>
          <a:xfrm>
            <a:off x="457200" y="4700000"/>
            <a:ext cx="8229600" cy="300000"/>
          </a:xfrm>
          <a:prstGeom prst="rect">
            <a:avLst/>
          </a:prstGeom>
        </p:spPr>
        <p:txBody>
          <a:bodyPr wrap="square"/>
          <a:lstStyle/>
          <a:p>
            <a:pPr>
              <a:buNone/>
            </a:pPr>
            <a:r>
              <a:rPr sz="1400">
                <a:solidFill>
                  <a:srgbClr val="94A3B8"/>
                </a:solidFill>
              </a:rPr>
              <a:t>Confidential — MertFormer Titan</a:t>
            </a:r>
            <a:endParaRPr sz="1400"/>
          </a:p>
        </p:txBody>
      </p:sp>
    </p:spTree>
  </p:cSld>
  <p:clrMapOvr>
    <a:masterClrMapping/>
  </p:clrMapOvr>
</p:sld>
</file>

<file path=ppt/slides/slide3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</a:xfrm>
      </p:grpSpPr>
      <p:sp>
        <p:nvSpPr>
          <p:cNvPr id="2" name="Background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txBody>
          <a:bodyPr/>
          <a:lstStyle/>
          <a:p/>
        </p:txBody>
      </p:sp>
      <p:sp>
        <p:nvSpPr>
          <p:cNvPr id="3" name="Accent"/>
          <p:cNvSpPr/>
          <p:nvPr/>
        </p:nvSpPr>
        <p:spPr>
          <a:xfrm>
            <a:off x="0" y="0"/>
            <a:ext cx="9144000" cy="120000"/>
          </a:xfrm>
          <a:prstGeom prst="rect">
            <a:avLst/>
          </a:prstGeom>
          <a:solidFill>
            <a:srgbClr val="22D3EE"/>
          </a:solidFill>
          <a:ln>
            <a:noFill/>
          </a:ln>
        </p:spPr>
        <p:txBody>
          <a:bodyPr/>
          <a:lstStyle/>
          <a:p/>
        </p:txBody>
      </p:sp>
      <p:sp>
        <p:nvSpPr>
          <p:cNvPr id="4" name="Title"/>
          <p:cNvSpPr txBox="1"/>
          <p:nvPr/>
        </p:nvSpPr>
        <p:spPr>
          <a:xfrm>
            <a:off x="457200" y="228600"/>
            <a:ext cx="8229600" cy="685800"/>
          </a:xfrm>
          <a:prstGeom prst="rect">
            <a:avLst/>
          </a:prstGeom>
        </p:spPr>
        <p:txBody>
          <a:bodyPr wrap="square"/>
          <a:lstStyle/>
          <a:p>
            <a:pPr>
              <a:buNone/>
            </a:pPr>
            <a:r>
              <a:rPr sz="3600" b="1">
                <a:solidFill>
                  <a:srgbClr val="7DD3FC"/>
                </a:solidFill>
              </a:rPr>
              <a:t>Solution</a:t>
            </a:r>
            <a:endParaRPr sz="3600"/>
          </a:p>
        </p:txBody>
      </p:sp>
      <p:sp>
        <p:nvSpPr>
          <p:cNvPr id="5" name="Body"/>
          <p:cNvSpPr txBox="1"/>
          <p:nvPr/>
        </p:nvSpPr>
        <p:spPr>
          <a:xfrm>
            <a:off x="685800" y="1200000"/>
            <a:ext cx="7772400" cy="3200000"/>
          </a:xfrm>
          <a:prstGeom prst="rect">
            <a:avLst/>
          </a:prstGeom>
        </p:spPr>
        <p:txBody>
          <a:bodyPr wrap="square"/>
          <a:lstStyle/>
          <a:p>
            <a:pPr>
              <a:buChar char="•"/>
            </a:pPr>
            <a:r>
              <a:rPr sz="2400">
                <a:solidFill>
                  <a:srgbClr val="E2E8F0"/>
                </a:solidFill>
              </a:rPr>
              <a:t>On-device inference with BitNet 1.58-bit quantization</a:t>
            </a:r>
            <a:endParaRPr sz="2400"/>
          </a:p>
          <a:p>
            <a:pPr>
              <a:buChar char="•"/>
            </a:pPr>
            <a:r>
              <a:rPr sz="2400">
                <a:solidFill>
                  <a:srgbClr val="E2E8F0"/>
                </a:solidFill>
              </a:rPr>
              <a:t>LiquidRouter MoE for stable, efficient routing</a:t>
            </a:r>
            <a:endParaRPr sz="2400"/>
          </a:p>
          <a:p>
            <a:pPr>
              <a:buChar char="•"/>
            </a:pPr>
            <a:r>
              <a:rPr sz="2400">
                <a:solidFill>
                  <a:srgbClr val="E2E8F0"/>
                </a:solidFill>
              </a:rPr>
              <a:t>Long-context attention optimized for code</a:t>
            </a:r>
            <a:endParaRPr sz="2400"/>
          </a:p>
        </p:txBody>
      </p:sp>
      <p:sp>
        <p:nvSpPr>
          <p:cNvPr id="6" name="Footer"/>
          <p:cNvSpPr txBox="1"/>
          <p:nvPr/>
        </p:nvSpPr>
        <p:spPr>
          <a:xfrm>
            <a:off x="457200" y="4700000"/>
            <a:ext cx="8229600" cy="300000"/>
          </a:xfrm>
          <a:prstGeom prst="rect">
            <a:avLst/>
          </a:prstGeom>
        </p:spPr>
        <p:txBody>
          <a:bodyPr wrap="square"/>
          <a:lstStyle/>
          <a:p>
            <a:pPr>
              <a:buNone/>
            </a:pPr>
            <a:r>
              <a:rPr sz="1400">
                <a:solidFill>
                  <a:srgbClr val="94A3B8"/>
                </a:solidFill>
              </a:rPr>
              <a:t>Confidential — MertFormer Titan</a:t>
            </a:r>
            <a:endParaRPr sz="1400"/>
          </a:p>
        </p:txBody>
      </p:sp>
    </p:spTree>
  </p:cSld>
  <p:clrMapOvr>
    <a:masterClrMapping/>
  </p:clrMapOvr>
</p:sld>
</file>

<file path=ppt/slides/slide4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</a:xfrm>
      </p:grpSpPr>
      <p:sp>
        <p:nvSpPr>
          <p:cNvPr id="2" name="Background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txBody>
          <a:bodyPr/>
          <a:lstStyle/>
          <a:p/>
        </p:txBody>
      </p:sp>
      <p:sp>
        <p:nvSpPr>
          <p:cNvPr id="3" name="Accent"/>
          <p:cNvSpPr/>
          <p:nvPr/>
        </p:nvSpPr>
        <p:spPr>
          <a:xfrm>
            <a:off x="0" y="0"/>
            <a:ext cx="9144000" cy="120000"/>
          </a:xfrm>
          <a:prstGeom prst="rect">
            <a:avLst/>
          </a:prstGeom>
          <a:solidFill>
            <a:srgbClr val="22D3EE"/>
          </a:solidFill>
          <a:ln>
            <a:noFill/>
          </a:ln>
        </p:spPr>
        <p:txBody>
          <a:bodyPr/>
          <a:lstStyle/>
          <a:p/>
        </p:txBody>
      </p:sp>
      <p:sp>
        <p:nvSpPr>
          <p:cNvPr id="4" name="Title"/>
          <p:cNvSpPr txBox="1"/>
          <p:nvPr/>
        </p:nvSpPr>
        <p:spPr>
          <a:xfrm>
            <a:off x="457200" y="228600"/>
            <a:ext cx="8229600" cy="685800"/>
          </a:xfrm>
          <a:prstGeom prst="rect">
            <a:avLst/>
          </a:prstGeom>
        </p:spPr>
        <p:txBody>
          <a:bodyPr wrap="square"/>
          <a:lstStyle/>
          <a:p>
            <a:pPr>
              <a:buNone/>
            </a:pPr>
            <a:r>
              <a:rPr sz="3600" b="1">
                <a:solidFill>
                  <a:srgbClr val="7DD3FC"/>
                </a:solidFill>
              </a:rPr>
              <a:t>Product</a:t>
            </a:r>
            <a:endParaRPr sz="3600"/>
          </a:p>
        </p:txBody>
      </p:sp>
      <p:sp>
        <p:nvSpPr>
          <p:cNvPr id="5" name="Body"/>
          <p:cNvSpPr txBox="1"/>
          <p:nvPr/>
        </p:nvSpPr>
        <p:spPr>
          <a:xfrm>
            <a:off x="685800" y="1200000"/>
            <a:ext cx="7772400" cy="3200000"/>
          </a:xfrm>
          <a:prstGeom prst="rect">
            <a:avLst/>
          </a:prstGeom>
        </p:spPr>
        <p:txBody>
          <a:bodyPr wrap="square"/>
          <a:lstStyle/>
          <a:p>
            <a:pPr>
              <a:buChar char="•"/>
            </a:pPr>
            <a:r>
              <a:rPr sz="2400">
                <a:solidFill>
                  <a:srgbClr val="E2E8F0"/>
                </a:solidFill>
              </a:rPr>
              <a:t>2.64B design-target model for coding</a:t>
            </a:r>
            <a:endParaRPr sz="2400"/>
          </a:p>
          <a:p>
            <a:pPr>
              <a:buChar char="•"/>
            </a:pPr>
            <a:r>
              <a:rPr sz="2400">
                <a:solidFill>
                  <a:srgbClr val="E2E8F0"/>
                </a:solidFill>
              </a:rPr>
              <a:t>Offline operation on mobile-class hardware</a:t>
            </a:r>
            <a:endParaRPr sz="2400"/>
          </a:p>
          <a:p>
            <a:pPr>
              <a:buChar char="•"/>
            </a:pPr>
            <a:r>
              <a:rPr sz="2400">
                <a:solidFill>
                  <a:srgbClr val="E2E8F0"/>
                </a:solidFill>
              </a:rPr>
              <a:t>Security-first with reproducibility gates</a:t>
            </a:r>
            <a:endParaRPr sz="2400"/>
          </a:p>
          <a:p>
            <a:pPr>
              <a:buChar char="•"/>
            </a:pPr>
            <a:r>
              <a:rPr sz="2400">
                <a:solidFill>
                  <a:srgbClr val="E2E8F0"/>
                </a:solidFill>
              </a:rPr>
              <a:t>SDK + CLI for edge deployments</a:t>
            </a:r>
            <a:endParaRPr sz="2400"/>
          </a:p>
        </p:txBody>
      </p:sp>
      <p:sp>
        <p:nvSpPr>
          <p:cNvPr id="6" name="Footer"/>
          <p:cNvSpPr txBox="1"/>
          <p:nvPr/>
        </p:nvSpPr>
        <p:spPr>
          <a:xfrm>
            <a:off x="457200" y="4700000"/>
            <a:ext cx="8229600" cy="300000"/>
          </a:xfrm>
          <a:prstGeom prst="rect">
            <a:avLst/>
          </a:prstGeom>
        </p:spPr>
        <p:txBody>
          <a:bodyPr wrap="square"/>
          <a:lstStyle/>
          <a:p>
            <a:pPr>
              <a:buNone/>
            </a:pPr>
            <a:r>
              <a:rPr sz="1400">
                <a:solidFill>
                  <a:srgbClr val="94A3B8"/>
                </a:solidFill>
              </a:rPr>
              <a:t>Confidential — MertFormer Titan</a:t>
            </a:r>
            <a:endParaRPr sz="1400"/>
          </a:p>
        </p:txBody>
      </p:sp>
    </p:spTree>
  </p:cSld>
  <p:clrMapOvr>
    <a:masterClrMapping/>
  </p:clrMapOvr>
</p:sld>
</file>

<file path=ppt/slides/slide5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</a:xfrm>
      </p:grpSpPr>
      <p:sp>
        <p:nvSpPr>
          <p:cNvPr id="2" name="Background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txBody>
          <a:bodyPr/>
          <a:lstStyle/>
          <a:p/>
        </p:txBody>
      </p:sp>
      <p:sp>
        <p:nvSpPr>
          <p:cNvPr id="3" name="Accent"/>
          <p:cNvSpPr/>
          <p:nvPr/>
        </p:nvSpPr>
        <p:spPr>
          <a:xfrm>
            <a:off x="0" y="0"/>
            <a:ext cx="9144000" cy="120000"/>
          </a:xfrm>
          <a:prstGeom prst="rect">
            <a:avLst/>
          </a:prstGeom>
          <a:solidFill>
            <a:srgbClr val="22D3EE"/>
          </a:solidFill>
          <a:ln>
            <a:noFill/>
          </a:ln>
        </p:spPr>
        <p:txBody>
          <a:bodyPr/>
          <a:lstStyle/>
          <a:p/>
        </p:txBody>
      </p:sp>
      <p:sp>
        <p:nvSpPr>
          <p:cNvPr id="4" name="Title"/>
          <p:cNvSpPr txBox="1"/>
          <p:nvPr/>
        </p:nvSpPr>
        <p:spPr>
          <a:xfrm>
            <a:off x="457200" y="228600"/>
            <a:ext cx="8229600" cy="685800"/>
          </a:xfrm>
          <a:prstGeom prst="rect">
            <a:avLst/>
          </a:prstGeom>
        </p:spPr>
        <p:txBody>
          <a:bodyPr wrap="square"/>
          <a:lstStyle/>
          <a:p>
            <a:pPr>
              <a:buNone/>
            </a:pPr>
            <a:r>
              <a:rPr sz="3600" b="1">
                <a:solidFill>
                  <a:srgbClr val="7DD3FC"/>
                </a:solidFill>
              </a:rPr>
              <a:t>Architecture Highlights</a:t>
            </a:r>
            <a:endParaRPr sz="3600"/>
          </a:p>
        </p:txBody>
      </p:sp>
      <p:sp>
        <p:nvSpPr>
          <p:cNvPr id="5" name="Body"/>
          <p:cNvSpPr txBox="1"/>
          <p:nvPr/>
        </p:nvSpPr>
        <p:spPr>
          <a:xfrm>
            <a:off x="685800" y="1200000"/>
            <a:ext cx="7772400" cy="3200000"/>
          </a:xfrm>
          <a:prstGeom prst="rect">
            <a:avLst/>
          </a:prstGeom>
        </p:spPr>
        <p:txBody>
          <a:bodyPr wrap="square"/>
          <a:lstStyle/>
          <a:p>
            <a:pPr>
              <a:buChar char="•"/>
            </a:pPr>
            <a:r>
              <a:rPr sz="2400">
                <a:solidFill>
                  <a:srgbClr val="E2E8F0"/>
                </a:solidFill>
              </a:rPr>
              <a:t>BitLinear + Liquid Neural Networks</a:t>
            </a:r>
            <a:endParaRPr sz="2400"/>
          </a:p>
          <a:p>
            <a:pPr>
              <a:buChar char="•"/>
            </a:pPr>
            <a:r>
              <a:rPr sz="2400">
                <a:solidFill>
                  <a:srgbClr val="E2E8F0"/>
                </a:solidFill>
              </a:rPr>
              <a:t>MLA attention with long-context readiness</a:t>
            </a:r>
            <a:endParaRPr sz="2400"/>
          </a:p>
          <a:p>
            <a:pPr>
              <a:buChar char="•"/>
            </a:pPr>
            <a:r>
              <a:rPr sz="2400">
                <a:solidFill>
                  <a:srgbClr val="E2E8F0"/>
                </a:solidFill>
              </a:rPr>
              <a:t>Sparse MoE with temporal routing</a:t>
            </a:r>
            <a:endParaRPr sz="2400"/>
          </a:p>
        </p:txBody>
      </p:sp>
      <p:sp>
        <p:nvSpPr>
          <p:cNvPr id="6" name="Footer"/>
          <p:cNvSpPr txBox="1"/>
          <p:nvPr/>
        </p:nvSpPr>
        <p:spPr>
          <a:xfrm>
            <a:off x="457200" y="4700000"/>
            <a:ext cx="8229600" cy="300000"/>
          </a:xfrm>
          <a:prstGeom prst="rect">
            <a:avLst/>
          </a:prstGeom>
        </p:spPr>
        <p:txBody>
          <a:bodyPr wrap="square"/>
          <a:lstStyle/>
          <a:p>
            <a:pPr>
              <a:buNone/>
            </a:pPr>
            <a:r>
              <a:rPr sz="1400">
                <a:solidFill>
                  <a:srgbClr val="94A3B8"/>
                </a:solidFill>
              </a:rPr>
              <a:t>Confidential — MertFormer Titan</a:t>
            </a:r>
            <a:endParaRPr sz="1400"/>
          </a:p>
        </p:txBody>
      </p:sp>
    </p:spTree>
  </p:cSld>
  <p:clrMapOvr>
    <a:masterClrMapping/>
  </p:clrMapOvr>
</p:sld>
</file>

<file path=ppt/slides/slide6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</a:xfrm>
      </p:grpSpPr>
      <p:sp>
        <p:nvSpPr>
          <p:cNvPr id="2" name="Background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txBody>
          <a:bodyPr/>
          <a:lstStyle/>
          <a:p/>
        </p:txBody>
      </p:sp>
      <p:sp>
        <p:nvSpPr>
          <p:cNvPr id="3" name="Accent"/>
          <p:cNvSpPr/>
          <p:nvPr/>
        </p:nvSpPr>
        <p:spPr>
          <a:xfrm>
            <a:off x="0" y="0"/>
            <a:ext cx="9144000" cy="120000"/>
          </a:xfrm>
          <a:prstGeom prst="rect">
            <a:avLst/>
          </a:prstGeom>
          <a:solidFill>
            <a:srgbClr val="22D3EE"/>
          </a:solidFill>
          <a:ln>
            <a:noFill/>
          </a:ln>
        </p:spPr>
        <p:txBody>
          <a:bodyPr/>
          <a:lstStyle/>
          <a:p/>
        </p:txBody>
      </p:sp>
      <p:sp>
        <p:nvSpPr>
          <p:cNvPr id="4" name="Title"/>
          <p:cNvSpPr txBox="1"/>
          <p:nvPr/>
        </p:nvSpPr>
        <p:spPr>
          <a:xfrm>
            <a:off x="457200" y="228600"/>
            <a:ext cx="8229600" cy="685800"/>
          </a:xfrm>
          <a:prstGeom prst="rect">
            <a:avLst/>
          </a:prstGeom>
        </p:spPr>
        <p:txBody>
          <a:bodyPr wrap="square"/>
          <a:lstStyle/>
          <a:p>
            <a:pPr>
              <a:buNone/>
            </a:pPr>
            <a:r>
              <a:rPr sz="3600" b="1">
                <a:solidFill>
                  <a:srgbClr val="7DD3FC"/>
                </a:solidFill>
              </a:rPr>
              <a:t>Safety &amp; Reliability</a:t>
            </a:r>
            <a:endParaRPr sz="3600"/>
          </a:p>
        </p:txBody>
      </p:sp>
      <p:sp>
        <p:nvSpPr>
          <p:cNvPr id="5" name="Body"/>
          <p:cNvSpPr txBox="1"/>
          <p:nvPr/>
        </p:nvSpPr>
        <p:spPr>
          <a:xfrm>
            <a:off x="685800" y="1200000"/>
            <a:ext cx="7772400" cy="3200000"/>
          </a:xfrm>
          <a:prstGeom prst="rect">
            <a:avLst/>
          </a:prstGeom>
        </p:spPr>
        <p:txBody>
          <a:bodyPr wrap="square"/>
          <a:lstStyle/>
          <a:p>
            <a:pPr>
              <a:buChar char="•"/>
            </a:pPr>
            <a:r>
              <a:rPr sz="2400">
                <a:solidFill>
                  <a:srgbClr val="E2E8F0"/>
                </a:solidFill>
              </a:rPr>
              <a:t>Kill-switch for non-finite stability events</a:t>
            </a:r>
            <a:endParaRPr sz="2400"/>
          </a:p>
          <a:p>
            <a:pPr>
              <a:buChar char="•"/>
            </a:pPr>
            <a:r>
              <a:rPr sz="2400">
                <a:solidFill>
                  <a:srgbClr val="E2E8F0"/>
                </a:solidFill>
              </a:rPr>
              <a:t>Failure budget and pivot triggers</a:t>
            </a:r>
            <a:endParaRPr sz="2400"/>
          </a:p>
          <a:p>
            <a:pPr>
              <a:buChar char="•"/>
            </a:pPr>
            <a:r>
              <a:rPr sz="2400">
                <a:solidFill>
                  <a:srgbClr val="E2E8F0"/>
                </a:solidFill>
              </a:rPr>
              <a:t>Checkpoint restore drills and reproducibility stamp</a:t>
            </a:r>
            <a:endParaRPr sz="2400"/>
          </a:p>
        </p:txBody>
      </p:sp>
      <p:sp>
        <p:nvSpPr>
          <p:cNvPr id="6" name="Footer"/>
          <p:cNvSpPr txBox="1"/>
          <p:nvPr/>
        </p:nvSpPr>
        <p:spPr>
          <a:xfrm>
            <a:off x="457200" y="4700000"/>
            <a:ext cx="8229600" cy="300000"/>
          </a:xfrm>
          <a:prstGeom prst="rect">
            <a:avLst/>
          </a:prstGeom>
        </p:spPr>
        <p:txBody>
          <a:bodyPr wrap="square"/>
          <a:lstStyle/>
          <a:p>
            <a:pPr>
              <a:buNone/>
            </a:pPr>
            <a:r>
              <a:rPr sz="1400">
                <a:solidFill>
                  <a:srgbClr val="94A3B8"/>
                </a:solidFill>
              </a:rPr>
              <a:t>Confidential — MertFormer Titan</a:t>
            </a:r>
            <a:endParaRPr sz="1400"/>
          </a:p>
        </p:txBody>
      </p:sp>
    </p:spTree>
  </p:cSld>
  <p:clrMapOvr>
    <a:masterClrMapping/>
  </p:clrMapOvr>
</p:sld>
</file>

<file path=ppt/slides/slide7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</a:xfrm>
      </p:grpSpPr>
      <p:sp>
        <p:nvSpPr>
          <p:cNvPr id="2" name="Background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txBody>
          <a:bodyPr/>
          <a:lstStyle/>
          <a:p/>
        </p:txBody>
      </p:sp>
      <p:sp>
        <p:nvSpPr>
          <p:cNvPr id="3" name="Accent"/>
          <p:cNvSpPr/>
          <p:nvPr/>
        </p:nvSpPr>
        <p:spPr>
          <a:xfrm>
            <a:off x="0" y="0"/>
            <a:ext cx="9144000" cy="120000"/>
          </a:xfrm>
          <a:prstGeom prst="rect">
            <a:avLst/>
          </a:prstGeom>
          <a:solidFill>
            <a:srgbClr val="22D3EE"/>
          </a:solidFill>
          <a:ln>
            <a:noFill/>
          </a:ln>
        </p:spPr>
        <p:txBody>
          <a:bodyPr/>
          <a:lstStyle/>
          <a:p/>
        </p:txBody>
      </p:sp>
      <p:sp>
        <p:nvSpPr>
          <p:cNvPr id="4" name="Title"/>
          <p:cNvSpPr txBox="1"/>
          <p:nvPr/>
        </p:nvSpPr>
        <p:spPr>
          <a:xfrm>
            <a:off x="457200" y="228600"/>
            <a:ext cx="8229600" cy="685800"/>
          </a:xfrm>
          <a:prstGeom prst="rect">
            <a:avLst/>
          </a:prstGeom>
        </p:spPr>
        <p:txBody>
          <a:bodyPr wrap="square"/>
          <a:lstStyle/>
          <a:p>
            <a:pPr>
              <a:buNone/>
            </a:pPr>
            <a:r>
              <a:rPr sz="3600" b="1">
                <a:solidFill>
                  <a:srgbClr val="7DD3FC"/>
                </a:solidFill>
              </a:rPr>
              <a:t>Evaluation Plan</a:t>
            </a:r>
            <a:endParaRPr sz="3600"/>
          </a:p>
        </p:txBody>
      </p:sp>
      <p:sp>
        <p:nvSpPr>
          <p:cNvPr id="5" name="Body"/>
          <p:cNvSpPr txBox="1"/>
          <p:nvPr/>
        </p:nvSpPr>
        <p:spPr>
          <a:xfrm>
            <a:off x="685800" y="1200000"/>
            <a:ext cx="7772400" cy="3200000"/>
          </a:xfrm>
          <a:prstGeom prst="rect">
            <a:avLst/>
          </a:prstGeom>
        </p:spPr>
        <p:txBody>
          <a:bodyPr wrap="square"/>
          <a:lstStyle/>
          <a:p>
            <a:pPr>
              <a:buChar char="•"/>
            </a:pPr>
            <a:r>
              <a:rPr sz="2400">
                <a:solidFill>
                  <a:srgbClr val="E2E8F0"/>
                </a:solidFill>
              </a:rPr>
              <a:t>Golden sample suite (50 prompts)</a:t>
            </a:r>
            <a:endParaRPr sz="2400"/>
          </a:p>
          <a:p>
            <a:pPr>
              <a:buChar char="•"/>
            </a:pPr>
            <a:r>
              <a:rPr sz="2400">
                <a:solidFill>
                  <a:srgbClr val="E2E8F0"/>
                </a:solidFill>
              </a:rPr>
              <a:t>HumanEval/MBPP output generation</a:t>
            </a:r>
            <a:endParaRPr sz="2400"/>
          </a:p>
          <a:p>
            <a:pPr>
              <a:buChar char="•"/>
            </a:pPr>
            <a:r>
              <a:rPr sz="2400">
                <a:solidFill>
                  <a:srgbClr val="E2E8F0"/>
                </a:solidFill>
              </a:rPr>
              <a:t>Full 1MB overfit gate on training hardware</a:t>
            </a:r>
            <a:endParaRPr sz="2400"/>
          </a:p>
        </p:txBody>
      </p:sp>
      <p:sp>
        <p:nvSpPr>
          <p:cNvPr id="6" name="Footer"/>
          <p:cNvSpPr txBox="1"/>
          <p:nvPr/>
        </p:nvSpPr>
        <p:spPr>
          <a:xfrm>
            <a:off x="457200" y="4700000"/>
            <a:ext cx="8229600" cy="300000"/>
          </a:xfrm>
          <a:prstGeom prst="rect">
            <a:avLst/>
          </a:prstGeom>
        </p:spPr>
        <p:txBody>
          <a:bodyPr wrap="square"/>
          <a:lstStyle/>
          <a:p>
            <a:pPr>
              <a:buNone/>
            </a:pPr>
            <a:r>
              <a:rPr sz="1400">
                <a:solidFill>
                  <a:srgbClr val="94A3B8"/>
                </a:solidFill>
              </a:rPr>
              <a:t>Confidential — MertFormer Titan</a:t>
            </a:r>
            <a:endParaRPr sz="1400"/>
          </a:p>
        </p:txBody>
      </p:sp>
    </p:spTree>
  </p:cSld>
  <p:clrMapOvr>
    <a:masterClrMapping/>
  </p:clrMapOvr>
</p:sld>
</file>

<file path=ppt/slides/slide8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</a:xfrm>
      </p:grpSpPr>
      <p:sp>
        <p:nvSpPr>
          <p:cNvPr id="2" name="Background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txBody>
          <a:bodyPr/>
          <a:lstStyle/>
          <a:p/>
        </p:txBody>
      </p:sp>
      <p:sp>
        <p:nvSpPr>
          <p:cNvPr id="3" name="Accent"/>
          <p:cNvSpPr/>
          <p:nvPr/>
        </p:nvSpPr>
        <p:spPr>
          <a:xfrm>
            <a:off x="0" y="0"/>
            <a:ext cx="9144000" cy="120000"/>
          </a:xfrm>
          <a:prstGeom prst="rect">
            <a:avLst/>
          </a:prstGeom>
          <a:solidFill>
            <a:srgbClr val="22D3EE"/>
          </a:solidFill>
          <a:ln>
            <a:noFill/>
          </a:ln>
        </p:spPr>
        <p:txBody>
          <a:bodyPr/>
          <a:lstStyle/>
          <a:p/>
        </p:txBody>
      </p:sp>
      <p:sp>
        <p:nvSpPr>
          <p:cNvPr id="4" name="Title"/>
          <p:cNvSpPr txBox="1"/>
          <p:nvPr/>
        </p:nvSpPr>
        <p:spPr>
          <a:xfrm>
            <a:off x="457200" y="228600"/>
            <a:ext cx="8229600" cy="685800"/>
          </a:xfrm>
          <a:prstGeom prst="rect">
            <a:avLst/>
          </a:prstGeom>
        </p:spPr>
        <p:txBody>
          <a:bodyPr wrap="square"/>
          <a:lstStyle/>
          <a:p>
            <a:pPr>
              <a:buNone/>
            </a:pPr>
            <a:r>
              <a:rPr sz="3600" b="1">
                <a:solidFill>
                  <a:srgbClr val="7DD3FC"/>
                </a:solidFill>
              </a:rPr>
              <a:t>Compute Need &amp; Plan</a:t>
            </a:r>
            <a:endParaRPr sz="3600"/>
          </a:p>
        </p:txBody>
      </p:sp>
      <p:sp>
        <p:nvSpPr>
          <p:cNvPr id="5" name="Body"/>
          <p:cNvSpPr txBox="1"/>
          <p:nvPr/>
        </p:nvSpPr>
        <p:spPr>
          <a:xfrm>
            <a:off x="685800" y="1200000"/>
            <a:ext cx="7772400" cy="3200000"/>
          </a:xfrm>
          <a:prstGeom prst="rect">
            <a:avLst/>
          </a:prstGeom>
        </p:spPr>
        <p:txBody>
          <a:bodyPr wrap="square"/>
          <a:lstStyle/>
          <a:p>
            <a:pPr>
              <a:buChar char="•"/>
            </a:pPr>
            <a:r>
              <a:rPr sz="2400">
                <a:solidFill>
                  <a:srgbClr val="E2E8F0"/>
                </a:solidFill>
              </a:rPr>
              <a:t>Multi-GPU credits for master run (A100/H100 class)</a:t>
            </a:r>
            <a:endParaRPr sz="2400"/>
          </a:p>
          <a:p>
            <a:pPr>
              <a:buChar char="•"/>
            </a:pPr>
            <a:r>
              <a:rPr sz="2400">
                <a:solidFill>
                  <a:srgbClr val="E2E8F0"/>
                </a:solidFill>
              </a:rPr>
              <a:t>Phased run: full 1MB gate → master run → benchmarks</a:t>
            </a:r>
            <a:endParaRPr sz="2400"/>
          </a:p>
          <a:p>
            <a:pPr>
              <a:buChar char="•"/>
            </a:pPr>
            <a:r>
              <a:rPr sz="2400">
                <a:solidFill>
                  <a:srgbClr val="E2E8F0"/>
                </a:solidFill>
              </a:rPr>
              <a:t>Deliverables: checkpoints, logs, eval outputs</a:t>
            </a:r>
            <a:endParaRPr sz="2400"/>
          </a:p>
        </p:txBody>
      </p:sp>
      <p:sp>
        <p:nvSpPr>
          <p:cNvPr id="6" name="Footer"/>
          <p:cNvSpPr txBox="1"/>
          <p:nvPr/>
        </p:nvSpPr>
        <p:spPr>
          <a:xfrm>
            <a:off x="457200" y="4700000"/>
            <a:ext cx="8229600" cy="300000"/>
          </a:xfrm>
          <a:prstGeom prst="rect">
            <a:avLst/>
          </a:prstGeom>
        </p:spPr>
        <p:txBody>
          <a:bodyPr wrap="square"/>
          <a:lstStyle/>
          <a:p>
            <a:pPr>
              <a:buNone/>
            </a:pPr>
            <a:r>
              <a:rPr sz="1400">
                <a:solidFill>
                  <a:srgbClr val="94A3B8"/>
                </a:solidFill>
              </a:rPr>
              <a:t>Confidential — MertFormer Titan</a:t>
            </a:r>
            <a:endParaRPr sz="1400"/>
          </a:p>
        </p:txBody>
      </p:sp>
    </p:spTree>
  </p:cSld>
  <p:clrMapOvr>
    <a:masterClrMapping/>
  </p:clrMapOvr>
</p:sld>
</file>

<file path=ppt/slides/slide9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</a:xfrm>
      </p:grpSpPr>
      <p:sp>
        <p:nvSpPr>
          <p:cNvPr id="2" name="Background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txBody>
          <a:bodyPr/>
          <a:lstStyle/>
          <a:p/>
        </p:txBody>
      </p:sp>
      <p:sp>
        <p:nvSpPr>
          <p:cNvPr id="3" name="Accent"/>
          <p:cNvSpPr/>
          <p:nvPr/>
        </p:nvSpPr>
        <p:spPr>
          <a:xfrm>
            <a:off x="0" y="0"/>
            <a:ext cx="9144000" cy="120000"/>
          </a:xfrm>
          <a:prstGeom prst="rect">
            <a:avLst/>
          </a:prstGeom>
          <a:solidFill>
            <a:srgbClr val="22D3EE"/>
          </a:solidFill>
          <a:ln>
            <a:noFill/>
          </a:ln>
        </p:spPr>
        <p:txBody>
          <a:bodyPr/>
          <a:lstStyle/>
          <a:p/>
        </p:txBody>
      </p:sp>
      <p:sp>
        <p:nvSpPr>
          <p:cNvPr id="4" name="Title"/>
          <p:cNvSpPr txBox="1"/>
          <p:nvPr/>
        </p:nvSpPr>
        <p:spPr>
          <a:xfrm>
            <a:off x="457200" y="228600"/>
            <a:ext cx="8229600" cy="685800"/>
          </a:xfrm>
          <a:prstGeom prst="rect">
            <a:avLst/>
          </a:prstGeom>
        </p:spPr>
        <p:txBody>
          <a:bodyPr wrap="square"/>
          <a:lstStyle/>
          <a:p>
            <a:pPr>
              <a:buNone/>
            </a:pPr>
            <a:r>
              <a:rPr sz="3600" b="1">
                <a:solidFill>
                  <a:srgbClr val="7DD3FC"/>
                </a:solidFill>
              </a:rPr>
              <a:t>Pilot / Go-to-Market</a:t>
            </a:r>
            <a:endParaRPr sz="3600"/>
          </a:p>
        </p:txBody>
      </p:sp>
      <p:sp>
        <p:nvSpPr>
          <p:cNvPr id="5" name="Body"/>
          <p:cNvSpPr txBox="1"/>
          <p:nvPr/>
        </p:nvSpPr>
        <p:spPr>
          <a:xfrm>
            <a:off x="685800" y="1200000"/>
            <a:ext cx="7772400" cy="3200000"/>
          </a:xfrm>
          <a:prstGeom prst="rect">
            <a:avLst/>
          </a:prstGeom>
        </p:spPr>
        <p:txBody>
          <a:bodyPr wrap="square"/>
          <a:lstStyle/>
          <a:p>
            <a:pPr>
              <a:buChar char="•"/>
            </a:pPr>
            <a:r>
              <a:rPr sz="2400">
                <a:solidFill>
                  <a:srgbClr val="E2E8F0"/>
                </a:solidFill>
              </a:rPr>
              <a:t>Offline PoC for regulated teams (defense/legal/finance)</a:t>
            </a:r>
            <a:endParaRPr sz="2400"/>
          </a:p>
          <a:p>
            <a:pPr>
              <a:buChar char="•"/>
            </a:pPr>
            <a:r>
              <a:rPr sz="2400">
                <a:solidFill>
                  <a:srgbClr val="E2E8F0"/>
                </a:solidFill>
              </a:rPr>
              <a:t>2–4 week pilot with clear success criteria</a:t>
            </a:r>
            <a:endParaRPr sz="2400"/>
          </a:p>
          <a:p>
            <a:pPr>
              <a:buChar char="•"/>
            </a:pPr>
            <a:r>
              <a:rPr sz="2400">
                <a:solidFill>
                  <a:srgbClr val="E2E8F0"/>
                </a:solidFill>
              </a:rPr>
              <a:t>Post‑pilot: paid deployments + support</a:t>
            </a:r>
            <a:endParaRPr sz="2400"/>
          </a:p>
        </p:txBody>
      </p:sp>
      <p:sp>
        <p:nvSpPr>
          <p:cNvPr id="6" name="Footer"/>
          <p:cNvSpPr txBox="1"/>
          <p:nvPr/>
        </p:nvSpPr>
        <p:spPr>
          <a:xfrm>
            <a:off x="457200" y="4700000"/>
            <a:ext cx="8229600" cy="300000"/>
          </a:xfrm>
          <a:prstGeom prst="rect">
            <a:avLst/>
          </a:prstGeom>
        </p:spPr>
        <p:txBody>
          <a:bodyPr wrap="square"/>
          <a:lstStyle/>
          <a:p>
            <a:pPr>
              <a:buNone/>
            </a:pPr>
            <a:r>
              <a:rPr sz="1400">
                <a:solidFill>
                  <a:srgbClr val="94A3B8"/>
                </a:solidFill>
              </a:rPr>
              <a:t>Confidential — MertFormer Titan</a:t>
            </a:r>
            <a:endParaRPr sz="1400"/>
          </a:p>
        </p:txBody>
      </p:sp>
    </p:spTree>
  </p:cSld>
  <p:clrMapOvr>
    <a:masterClrMapping/>
  </p:clrMapOvr>
</p:sld>
</file>

<file path=ppt/slides/slide10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</a:xfrm>
      </p:grpSpPr>
      <p:sp>
        <p:nvSpPr>
          <p:cNvPr id="2" name="Background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txBody>
          <a:bodyPr/>
          <a:lstStyle/>
          <a:p/>
        </p:txBody>
      </p:sp>
      <p:sp>
        <p:nvSpPr>
          <p:cNvPr id="3" name="Accent"/>
          <p:cNvSpPr/>
          <p:nvPr/>
        </p:nvSpPr>
        <p:spPr>
          <a:xfrm>
            <a:off x="0" y="0"/>
            <a:ext cx="9144000" cy="120000"/>
          </a:xfrm>
          <a:prstGeom prst="rect">
            <a:avLst/>
          </a:prstGeom>
          <a:solidFill>
            <a:srgbClr val="22D3EE"/>
          </a:solidFill>
          <a:ln>
            <a:noFill/>
          </a:ln>
        </p:spPr>
        <p:txBody>
          <a:bodyPr/>
          <a:lstStyle/>
          <a:p/>
        </p:txBody>
      </p:sp>
      <p:sp>
        <p:nvSpPr>
          <p:cNvPr id="4" name="Title"/>
          <p:cNvSpPr txBox="1"/>
          <p:nvPr/>
        </p:nvSpPr>
        <p:spPr>
          <a:xfrm>
            <a:off x="457200" y="228600"/>
            <a:ext cx="8229600" cy="685800"/>
          </a:xfrm>
          <a:prstGeom prst="rect">
            <a:avLst/>
          </a:prstGeom>
        </p:spPr>
        <p:txBody>
          <a:bodyPr wrap="square"/>
          <a:lstStyle/>
          <a:p>
            <a:pPr>
              <a:buNone/>
            </a:pPr>
            <a:r>
              <a:rPr sz="3600" b="1">
                <a:solidFill>
                  <a:srgbClr val="7DD3FC"/>
                </a:solidFill>
              </a:rPr>
              <a:t>Market &amp; Use Cases</a:t>
            </a:r>
            <a:endParaRPr sz="3600"/>
          </a:p>
        </p:txBody>
      </p:sp>
      <p:sp>
        <p:nvSpPr>
          <p:cNvPr id="5" name="Body"/>
          <p:cNvSpPr txBox="1"/>
          <p:nvPr/>
        </p:nvSpPr>
        <p:spPr>
          <a:xfrm>
            <a:off x="685800" y="1200000"/>
            <a:ext cx="7772400" cy="3200000"/>
          </a:xfrm>
          <a:prstGeom prst="rect">
            <a:avLst/>
          </a:prstGeom>
        </p:spPr>
        <p:txBody>
          <a:bodyPr wrap="square"/>
          <a:lstStyle/>
          <a:p>
            <a:pPr>
              <a:buChar char="•"/>
            </a:pPr>
            <a:r>
              <a:rPr sz="2400">
                <a:solidFill>
                  <a:srgbClr val="E2E8F0"/>
                </a:solidFill>
              </a:rPr>
              <a:t>Regulated enterprises and defense workflows</a:t>
            </a:r>
            <a:endParaRPr sz="2400"/>
          </a:p>
          <a:p>
            <a:pPr>
              <a:buChar char="•"/>
            </a:pPr>
            <a:r>
              <a:rPr sz="2400">
                <a:solidFill>
                  <a:srgbClr val="E2E8F0"/>
                </a:solidFill>
              </a:rPr>
              <a:t>On-device copilots for low-connectivity regions</a:t>
            </a:r>
            <a:endParaRPr sz="2400"/>
          </a:p>
          <a:p>
            <a:pPr>
              <a:buChar char="•"/>
            </a:pPr>
            <a:r>
              <a:rPr sz="2400">
                <a:solidFill>
                  <a:srgbClr val="E2E8F0"/>
                </a:solidFill>
              </a:rPr>
              <a:t>Private inference stacks with data control</a:t>
            </a:r>
            <a:endParaRPr sz="2400"/>
          </a:p>
        </p:txBody>
      </p:sp>
      <p:sp>
        <p:nvSpPr>
          <p:cNvPr id="6" name="Footer"/>
          <p:cNvSpPr txBox="1"/>
          <p:nvPr/>
        </p:nvSpPr>
        <p:spPr>
          <a:xfrm>
            <a:off x="457200" y="4700000"/>
            <a:ext cx="8229600" cy="300000"/>
          </a:xfrm>
          <a:prstGeom prst="rect">
            <a:avLst/>
          </a:prstGeom>
        </p:spPr>
        <p:txBody>
          <a:bodyPr wrap="square"/>
          <a:lstStyle/>
          <a:p>
            <a:pPr>
              <a:buNone/>
            </a:pPr>
            <a:r>
              <a:rPr sz="1400">
                <a:solidFill>
                  <a:srgbClr val="94A3B8"/>
                </a:solidFill>
              </a:rPr>
              <a:t>Confidential — MertFormer Titan</a:t>
            </a:r>
            <a:endParaRPr sz="1400"/>
          </a:p>
        </p:txBody>
      </p:sp>
    </p:spTree>
  </p:cSld>
  <p:clrMapOvr>
    <a:masterClrMapping/>
  </p:clrMapOvr>
</p:sld>
</file>

<file path=ppt/slides/slide11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</a:xfrm>
      </p:grpSpPr>
      <p:sp>
        <p:nvSpPr>
          <p:cNvPr id="2" name="Background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txBody>
          <a:bodyPr/>
          <a:lstStyle/>
          <a:p/>
        </p:txBody>
      </p:sp>
      <p:sp>
        <p:nvSpPr>
          <p:cNvPr id="3" name="Accent"/>
          <p:cNvSpPr/>
          <p:nvPr/>
        </p:nvSpPr>
        <p:spPr>
          <a:xfrm>
            <a:off x="0" y="0"/>
            <a:ext cx="9144000" cy="120000"/>
          </a:xfrm>
          <a:prstGeom prst="rect">
            <a:avLst/>
          </a:prstGeom>
          <a:solidFill>
            <a:srgbClr val="22D3EE"/>
          </a:solidFill>
          <a:ln>
            <a:noFill/>
          </a:ln>
        </p:spPr>
        <p:txBody>
          <a:bodyPr/>
          <a:lstStyle/>
          <a:p/>
        </p:txBody>
      </p:sp>
      <p:sp>
        <p:nvSpPr>
          <p:cNvPr id="4" name="Title"/>
          <p:cNvSpPr txBox="1"/>
          <p:nvPr/>
        </p:nvSpPr>
        <p:spPr>
          <a:xfrm>
            <a:off x="457200" y="228600"/>
            <a:ext cx="8229600" cy="685800"/>
          </a:xfrm>
          <a:prstGeom prst="rect">
            <a:avLst/>
          </a:prstGeom>
        </p:spPr>
        <p:txBody>
          <a:bodyPr wrap="square"/>
          <a:lstStyle/>
          <a:p>
            <a:pPr>
              <a:buNone/>
            </a:pPr>
            <a:r>
              <a:rPr sz="3600" b="1">
                <a:solidFill>
                  <a:srgbClr val="7DD3FC"/>
                </a:solidFill>
              </a:rPr>
              <a:t>Roadmap</a:t>
            </a:r>
            <a:endParaRPr sz="3600"/>
          </a:p>
        </p:txBody>
      </p:sp>
      <p:sp>
        <p:nvSpPr>
          <p:cNvPr id="5" name="Body"/>
          <p:cNvSpPr txBox="1"/>
          <p:nvPr/>
        </p:nvSpPr>
        <p:spPr>
          <a:xfrm>
            <a:off x="685800" y="1200000"/>
            <a:ext cx="7772400" cy="3200000"/>
          </a:xfrm>
          <a:prstGeom prst="rect">
            <a:avLst/>
          </a:prstGeom>
        </p:spPr>
        <p:txBody>
          <a:bodyPr wrap="square"/>
          <a:lstStyle/>
          <a:p>
            <a:pPr>
              <a:buChar char="•"/>
            </a:pPr>
            <a:r>
              <a:rPr sz="2400">
                <a:solidFill>
                  <a:srgbClr val="E2E8F0"/>
                </a:solidFill>
              </a:rPr>
              <a:t>Master run (2.64B design target) with telemetry gates</a:t>
            </a:r>
            <a:endParaRPr sz="2400"/>
          </a:p>
          <a:p>
            <a:pPr>
              <a:buChar char="•"/>
            </a:pPr>
            <a:r>
              <a:rPr sz="2400">
                <a:solidFill>
                  <a:srgbClr val="E2E8F0"/>
                </a:solidFill>
              </a:rPr>
              <a:t>Benchmark validation + pilot deployments</a:t>
            </a:r>
            <a:endParaRPr sz="2400"/>
          </a:p>
          <a:p>
            <a:pPr>
              <a:buChar char="•"/>
            </a:pPr>
            <a:r>
              <a:rPr sz="2400">
                <a:solidFill>
                  <a:srgbClr val="E2E8F0"/>
                </a:solidFill>
              </a:rPr>
              <a:t>Asset stack + launch materials</a:t>
            </a:r>
            <a:endParaRPr sz="2400"/>
          </a:p>
        </p:txBody>
      </p:sp>
      <p:sp>
        <p:nvSpPr>
          <p:cNvPr id="6" name="Footer"/>
          <p:cNvSpPr txBox="1"/>
          <p:nvPr/>
        </p:nvSpPr>
        <p:spPr>
          <a:xfrm>
            <a:off x="457200" y="4700000"/>
            <a:ext cx="8229600" cy="300000"/>
          </a:xfrm>
          <a:prstGeom prst="rect">
            <a:avLst/>
          </a:prstGeom>
        </p:spPr>
        <p:txBody>
          <a:bodyPr wrap="square"/>
          <a:lstStyle/>
          <a:p>
            <a:pPr>
              <a:buNone/>
            </a:pPr>
            <a:r>
              <a:rPr sz="1400">
                <a:solidFill>
                  <a:srgbClr val="94A3B8"/>
                </a:solidFill>
              </a:rPr>
              <a:t>Confidential — MertFormer Titan</a:t>
            </a:r>
            <a:endParaRPr sz="1400"/>
          </a:p>
        </p:txBody>
      </p:sp>
    </p:spTree>
  </p:cSld>
  <p:clrMapOvr>
    <a:masterClrMapping/>
  </p:clrMapOvr>
</p:sld>
</file>

<file path=ppt/slides/slide12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</a:xfrm>
      </p:grpSpPr>
      <p:sp>
        <p:nvSpPr>
          <p:cNvPr id="2" name="Background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txBody>
          <a:bodyPr/>
          <a:lstStyle/>
          <a:p/>
        </p:txBody>
      </p:sp>
      <p:sp>
        <p:nvSpPr>
          <p:cNvPr id="3" name="Accent"/>
          <p:cNvSpPr/>
          <p:nvPr/>
        </p:nvSpPr>
        <p:spPr>
          <a:xfrm>
            <a:off x="0" y="0"/>
            <a:ext cx="9144000" cy="120000"/>
          </a:xfrm>
          <a:prstGeom prst="rect">
            <a:avLst/>
          </a:prstGeom>
          <a:solidFill>
            <a:srgbClr val="22D3EE"/>
          </a:solidFill>
          <a:ln>
            <a:noFill/>
          </a:ln>
        </p:spPr>
        <p:txBody>
          <a:bodyPr/>
          <a:lstStyle/>
          <a:p/>
        </p:txBody>
      </p:sp>
      <p:sp>
        <p:nvSpPr>
          <p:cNvPr id="4" name="Title"/>
          <p:cNvSpPr txBox="1"/>
          <p:nvPr/>
        </p:nvSpPr>
        <p:spPr>
          <a:xfrm>
            <a:off x="457200" y="228600"/>
            <a:ext cx="8229600" cy="685800"/>
          </a:xfrm>
          <a:prstGeom prst="rect">
            <a:avLst/>
          </a:prstGeom>
        </p:spPr>
        <p:txBody>
          <a:bodyPr wrap="square"/>
          <a:lstStyle/>
          <a:p>
            <a:pPr>
              <a:buNone/>
            </a:pPr>
            <a:r>
              <a:rPr sz="3600" b="1">
                <a:solidFill>
                  <a:srgbClr val="7DD3FC"/>
                </a:solidFill>
              </a:rPr>
              <a:t>Ask</a:t>
            </a:r>
            <a:endParaRPr sz="3600"/>
          </a:p>
        </p:txBody>
      </p:sp>
      <p:sp>
        <p:nvSpPr>
          <p:cNvPr id="5" name="Body"/>
          <p:cNvSpPr txBox="1"/>
          <p:nvPr/>
        </p:nvSpPr>
        <p:spPr>
          <a:xfrm>
            <a:off x="685800" y="1200000"/>
            <a:ext cx="7772400" cy="3200000"/>
          </a:xfrm>
          <a:prstGeom prst="rect">
            <a:avLst/>
          </a:prstGeom>
        </p:spPr>
        <p:txBody>
          <a:bodyPr wrap="square"/>
          <a:lstStyle/>
          <a:p>
            <a:pPr>
              <a:buChar char="•"/>
            </a:pPr>
            <a:r>
              <a:rPr sz="2400">
                <a:solidFill>
                  <a:srgbClr val="E2E8F0"/>
                </a:solidFill>
              </a:rPr>
              <a:t>Pilot partners for edge coding workflows</a:t>
            </a:r>
            <a:endParaRPr sz="2400"/>
          </a:p>
          <a:p>
            <a:pPr>
              <a:buChar char="•"/>
            </a:pPr>
            <a:r>
              <a:rPr sz="2400">
                <a:solidFill>
                  <a:srgbClr val="E2E8F0"/>
                </a:solidFill>
              </a:rPr>
              <a:t>Infrastructure credits for training runs</a:t>
            </a:r>
            <a:endParaRPr sz="2400"/>
          </a:p>
          <a:p>
            <a:pPr>
              <a:buChar char="•"/>
            </a:pPr>
            <a:r>
              <a:rPr sz="2400">
                <a:solidFill>
                  <a:srgbClr val="E2E8F0"/>
                </a:solidFill>
              </a:rPr>
              <a:t>Strategic advisors for deployment validation</a:t>
            </a:r>
            <a:endParaRPr sz="2400"/>
          </a:p>
        </p:txBody>
      </p:sp>
      <p:sp>
        <p:nvSpPr>
          <p:cNvPr id="6" name="Footer"/>
          <p:cNvSpPr txBox="1"/>
          <p:nvPr/>
        </p:nvSpPr>
        <p:spPr>
          <a:xfrm>
            <a:off x="457200" y="4700000"/>
            <a:ext cx="8229600" cy="300000"/>
          </a:xfrm>
          <a:prstGeom prst="rect">
            <a:avLst/>
          </a:prstGeom>
        </p:spPr>
        <p:txBody>
          <a:bodyPr wrap="square"/>
          <a:lstStyle/>
          <a:p>
            <a:pPr>
              <a:buNone/>
            </a:pPr>
            <a:r>
              <a:rPr sz="1400">
                <a:solidFill>
                  <a:srgbClr val="94A3B8"/>
                </a:solidFill>
              </a:rPr>
              <a:t>Confidential — MertFormer Titan</a:t>
            </a:r>
            <a:endParaRPr sz="140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t>Dedup pipeline enabled (global/stage scope)</a:t>
            </a:r>
          </a:p>
          <a:p>
            <a:pPr/>
            <a:r>
              <a:t>MoE parallel dispatch path (sequential fallback retained)</a:t>
            </a:r>
          </a:p>
          <a:p>
            <a:pPr/>
            <a:r>
              <a:t>Liquid/CfC fast-path opt-in for runtime efficiency</a:t>
            </a:r>
          </a:p>
          <a:p>
            <a:pPr/>
            <a:r>
              <a:t>Training gates + SOP evidence hardened</a:t>
            </a:r>
          </a:p>
          <a:p>
            <a:pPr/>
            <a:r>
              <a:t>Claim boundary unchanged (pre-training, no benchmark claims)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t>Dedup pipeline enabled (global/stage scope)</a:t>
            </a:r>
          </a:p>
          <a:p>
            <a:pPr/>
            <a:r>
              <a:t>MoE parallel dispatch path (sequential fallback retained)</a:t>
            </a:r>
          </a:p>
          <a:p>
            <a:pPr/>
            <a:r>
              <a:t>Liquid/CfC fast-path opt-in for runtime efficiency</a:t>
            </a:r>
          </a:p>
          <a:p>
            <a:pPr/>
            <a:r>
              <a:t>Training gates + SOP evidence hardened</a:t>
            </a:r>
          </a:p>
          <a:p>
            <a:pPr/>
            <a:r>
              <a:t>Claim boundary unchanged (pre-training, no benchmark claims)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MertFormer Theme">
  <a:themeElements>
    <a:clrScheme name="MertFormer">
      <a:dk1>
        <a:srgbClr val="000000"/>
      </a:dk1>
      <a:lt1>
        <a:srgbClr val="FFFFFF"/>
      </a:lt1>
      <a:dk2>
        <a:srgbClr val="1E293B"/>
      </a:dk2>
      <a:lt2>
        <a:srgbClr val="E2E8F0"/>
      </a:lt2>
      <a:accent1>
        <a:srgbClr val="22D3EE"/>
      </a:accent1>
      <a:accent2>
        <a:srgbClr val="7DD3FC"/>
      </a:accent2>
      <a:accent3>
        <a:srgbClr val="94A3B8"/>
      </a:accent3>
      <a:accent4>
        <a:srgbClr val="38BDF8"/>
      </a:accent4>
      <a:accent5>
        <a:srgbClr val="0EA5E9"/>
      </a:accent5>
      <a:accent6>
        <a:srgbClr val="22C55E"/>
      </a:accent6>
      <a:hlink>
        <a:srgbClr val="0EA5E9"/>
      </a:hlink>
      <a:folHlink>
        <a:srgbClr val="64748B"/>
      </a:folHlink>
    </a:clrScheme>
    <a:fontScheme name="Office">
      <a:majorFont>
        <a:latin typeface="Calibri"/>
      </a:majorFont>
      <a:minorFont>
        <a:latin typeface="Calibri"/>
      </a:minorFont>
    </a:fontScheme>
    <a:fmtScheme name="Office"/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Application>MertFormer Deck Builder</Applicat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MertFormer Titan Investor Deck</dc:title>
  <dc:creator>MertFormer</dc:creator>
  <cp:lastModifiedBy>MertFormer</cp:lastModifiedBy>
  <dcterms:created xsi:type="dcterms:W3CDTF">2026-03-05T21:18:29Z</dcterms:created>
  <dcterms:modified xsi:type="dcterms:W3CDTF">2026-03-05T21:18:29Z</dcterms:modified>
</cp:coreProperties>
</file>
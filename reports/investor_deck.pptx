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Layouts/slideLayout1.xml" ContentType="application/vnd.openxmlformats-officedocument.presentationml.slideLayout+xml"/>
  <Override PartName="/ppt/theme/theme1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</Types>
</file>

<file path=_rels/.rels><?xml version="1.0" encoding="UTF-8"?>
<Relationships xmlns="http://schemas.openxmlformats.org/package/2006/relationships">
  <Relationship Id="rId1" Type="http://schemas.openxmlformats.org/officeDocument/2006/relationships/officeDocument" Target="ppt/presentation.xml"/>
  <Relationship Id="rId2" Type="http://schemas.openxmlformats.org/package/2006/relationships/metadata/core-properties" Target="docProps/core.xml"/>
  <Relationship Id="rId3" Type="http://schemas.openxmlformats.org/officeDocument/2006/relationships/extended-properties" Target="docProps/app.xml"/>
</Relationships>

</file>

<file path=ppt/presentation.xml><?xml version="1.0" encoding="utf-8"?>
<p:presentation xmlns:p="http://schemas.openxmlformats.org/presentationml/2006/main" xmlns:a="http://schemas.openxmlformats.org/drawingml/2006/main" xmlns:r="http://schemas.openxmlformats.org/officeDocument/2006/relationships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sldSz cx="9144000" cy="5143500" type="screen16x9"/>
  <p:notesSz cx="6858000" cy="9144000"/>
</p:presentation>
</file>

<file path=ppt/_rels/presentation.xml.rels><?xml version="1.0" encoding="UTF-8"?>
<Relationships xmlns="http://schemas.openxmlformats.org/package/2006/relationships">
<Relationship Id="rId1" Type="http://schemas.openxmlformats.org/officeDocument/2006/relationships/slideMaster" Target="slideMasters/slideMaster1.xml"/>
<Relationship Id="rId2" Type="http://schemas.openxmlformats.org/officeDocument/2006/relationships/slide" Target="slides/slide1.xml"/>
<Relationship Id="rId3" Type="http://schemas.openxmlformats.org/officeDocument/2006/relationships/slide" Target="slides/slide2.xml"/>
<Relationship Id="rId4" Type="http://schemas.openxmlformats.org/officeDocument/2006/relationships/slide" Target="slides/slide3.xml"/>
<Relationship Id="rId5" Type="http://schemas.openxmlformats.org/officeDocument/2006/relationships/slide" Target="slides/slide4.xml"/>
<Relationship Id="rId6" Type="http://schemas.openxmlformats.org/officeDocument/2006/relationships/slide" Target="slides/slide5.xml"/>
<Relationship Id="rId7" Type="http://schemas.openxmlformats.org/officeDocument/2006/relationships/slide" Target="slides/slide6.xml"/>
<Relationship Id="rId8" Type="http://schemas.openxmlformats.org/officeDocument/2006/relationships/slide" Target="slides/slide7.xml"/>
<Relationship Id="rId9" Type="http://schemas.openxmlformats.org/officeDocument/2006/relationships/slide" Target="slides/slide8.xml"/>
<Relationship Id="rId10" Type="http://schemas.openxmlformats.org/officeDocument/2006/relationships/slide" Target="slides/slide9.xml"/>
<Relationship Id="rId11" Type="http://schemas.openxmlformats.org/officeDocument/2006/relationships/slide" Target="slides/slide10.xml"/>
</Relationships>
</file>

<file path=ppt/slideLayouts/_rels/slideLayout1.xml.rels><?xml version="1.0" encoding="UTF-8"?>
<Relationships xmlns="http://schemas.openxmlformats.org/package/2006/relationships">
  <Relationship Id="rId1" Type="http://schemas.openxmlformats.org/officeDocument/2006/relationships/slideMaster" Target="../slideMasters/slideMaster1.xml"/>
</Relationships>

</file>

<file path=ppt/slideLayouts/slideLayout1.xml><?xml version="1.0" encoding="utf-8"?>
<p:sldLayout xmlns:p="http://schemas.openxmlformats.org/presentationml/2006/main" xmlns:a="http://schemas.openxmlformats.org/drawingml/2006/main" xmlns:r="http://schemas.openxmlformats.org/officeDocument/2006/relationships" type="title" preserve="1">
  <p:cSld>
    <p:spTree>
      <p:nvGrpSpPr>
        <p:cNvPr id="1" name=""/>
        <p:cNvGrpSpPr/>
        <p:nvPr/>
      </p:nvGrpSpPr>
      <p:grpSpPr>
        <a:xfrm>
          <a:off x="0" y="0"/>
          <a:ext cx="0" cy="0"/>
        </a:xfrm>
      </p:grpSpPr>
    </p:spTree>
  </p:cSld>
  <p:clrMapOvr>
    <a:masterClrMapping/>
  </p:clrMapOvr>
</p:sldLayout>
</file>

<file path=ppt/slideMasters/_rels/slideMaster1.xml.rels><?xml version="1.0" encoding="UTF-8"?>
<Relationships xmlns="http://schemas.openxmlformats.org/package/2006/relationships">
  <Relationship Id="rId1" Type="http://schemas.openxmlformats.org/officeDocument/2006/relationships/slideLayout" Target="../slideLayouts/slideLayout1.xml"/>
  <Relationship Id="rId2" Type="http://schemas.openxmlformats.org/officeDocument/2006/relationships/theme" Target="../theme/theme1.xml"/>
</Relationships>

</file>

<file path=ppt/slideMasters/slideMaster1.xml><?xml version="1.0" encoding="utf-8"?>
<p:sldMaster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</p:sldMaster>
</file>

<file path=ppt/slides/_rels/slide1.xml.rels><?xml version="1.0" encoding="UTF-8"?>
<Relationships xmlns="http://schemas.openxmlformats.org/package/2006/relationships">
  <Relationship Id="rId1" Type="http://schemas.openxmlformats.org/officeDocument/2006/relationships/slideLayout" Target="../slideLayouts/slideLayout1.xml"/>
</Relationships>

</file>

<file path=ppt/slides/_rels/slide2.xml.rels><?xml version="1.0" encoding="UTF-8"?>
<Relationships xmlns="http://schemas.openxmlformats.org/package/2006/relationships">
  <Relationship Id="rId1" Type="http://schemas.openxmlformats.org/officeDocument/2006/relationships/slideLayout" Target="../slideLayouts/slideLayout1.xml"/>
</Relationships>

</file>

<file path=ppt/slides/_rels/slide3.xml.rels><?xml version="1.0" encoding="UTF-8"?>
<Relationships xmlns="http://schemas.openxmlformats.org/package/2006/relationships">
  <Relationship Id="rId1" Type="http://schemas.openxmlformats.org/officeDocument/2006/relationships/slideLayout" Target="../slideLayouts/slideLayout1.xml"/>
</Relationships>

</file>

<file path=ppt/slides/_rels/slide4.xml.rels><?xml version="1.0" encoding="UTF-8"?>
<Relationships xmlns="http://schemas.openxmlformats.org/package/2006/relationships">
  <Relationship Id="rId1" Type="http://schemas.openxmlformats.org/officeDocument/2006/relationships/slideLayout" Target="../slideLayouts/slideLayout1.xml"/>
</Relationships>

</file>

<file path=ppt/slides/_rels/slide5.xml.rels><?xml version="1.0" encoding="UTF-8"?>
<Relationships xmlns="http://schemas.openxmlformats.org/package/2006/relationships">
  <Relationship Id="rId1" Type="http://schemas.openxmlformats.org/officeDocument/2006/relationships/slideLayout" Target="../slideLayouts/slideLayout1.xml"/>
</Relationships>

</file>

<file path=ppt/slides/_rels/slide6.xml.rels><?xml version="1.0" encoding="UTF-8"?>
<Relationships xmlns="http://schemas.openxmlformats.org/package/2006/relationships">
  <Relationship Id="rId1" Type="http://schemas.openxmlformats.org/officeDocument/2006/relationships/slideLayout" Target="../slideLayouts/slideLayout1.xml"/>
</Relationships>

</file>

<file path=ppt/slides/_rels/slide7.xml.rels><?xml version="1.0" encoding="UTF-8"?>
<Relationships xmlns="http://schemas.openxmlformats.org/package/2006/relationships">
  <Relationship Id="rId1" Type="http://schemas.openxmlformats.org/officeDocument/2006/relationships/slideLayout" Target="../slideLayouts/slideLayout1.xml"/>
</Relationships>

</file>

<file path=ppt/slides/_rels/slide8.xml.rels><?xml version="1.0" encoding="UTF-8"?>
<Relationships xmlns="http://schemas.openxmlformats.org/package/2006/relationships">
  <Relationship Id="rId1" Type="http://schemas.openxmlformats.org/officeDocument/2006/relationships/slideLayout" Target="../slideLayouts/slideLayout1.xml"/>
</Relationships>

</file>

<file path=ppt/slides/_rels/slide9.xml.rels><?xml version="1.0" encoding="UTF-8"?>
<Relationships xmlns="http://schemas.openxmlformats.org/package/2006/relationships">
  <Relationship Id="rId1" Type="http://schemas.openxmlformats.org/officeDocument/2006/relationships/slideLayout" Target="../slideLayouts/slideLayout1.xml"/>
</Relationships>

</file>

<file path=ppt/slides/_rels/slide10.xml.rels><?xml version="1.0" encoding="UTF-8"?>
<Relationships xmlns="http://schemas.openxmlformats.org/package/2006/relationships">
  <Relationship Id="rId1" Type="http://schemas.openxmlformats.org/officeDocument/2006/relationships/slideLayout" Target="../slideLayouts/slideLayout1.xml"/>
</Relationships>

</file>

<file path=ppt/slides/slide1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</a:xfrm>
      </p:grpSpPr>
      <p:sp>
        <p:nvSpPr>
          <p:cNvPr id="2" name="Title"/>
          <p:cNvSpPr txBox="1"/>
          <p:nvPr/>
        </p:nvSpPr>
        <p:spPr>
          <a:xfrm>
            <a:off x="457200" y="228600"/>
            <a:ext cx="8229600" cy="685800"/>
          </a:xfrm>
          <a:prstGeom prst="rect">
            <a:avLst/>
          </a:prstGeom>
        </p:spPr>
        <p:txBody>
          <a:bodyPr wrap="square"/>
          <a:lstStyle/>
          <a:p>
            <a:pPr>
              <a:buNone/>
            </a:pPr>
            <a:r>
              <a:rPr sz="3600" b="1"/>
              <a:t>MertFormer Titan</a:t>
            </a:r>
            <a:endParaRPr sz="3600"/>
          </a:p>
        </p:txBody>
      </p:sp>
      <p:sp>
        <p:nvSpPr>
          <p:cNvPr id="3" name="Body"/>
          <p:cNvSpPr txBox="1"/>
          <p:nvPr/>
        </p:nvSpPr>
        <p:spPr>
          <a:xfrm>
            <a:off x="685800" y="1143000"/>
            <a:ext cx="7772400" cy="3429000"/>
          </a:xfrm>
          <a:prstGeom prst="rect">
            <a:avLst/>
          </a:prstGeom>
        </p:spPr>
        <p:txBody>
          <a:bodyPr wrap="square"/>
          <a:lstStyle/>
          <a:p>
            <a:pPr>
              <a:buChar char="•"/>
            </a:pPr>
            <a:r>
              <a:rPr sz="2400"/>
              <a:t>Edge-native coding model (2.6B target)</a:t>
            </a:r>
            <a:endParaRPr sz="2400"/>
          </a:p>
          <a:p>
            <a:pPr>
              <a:buChar char="•"/>
            </a:pPr>
            <a:r>
              <a:rPr sz="2400"/>
              <a:t>Operator-mode verified pipeline</a:t>
            </a:r>
            <a:endParaRPr sz="2400"/>
          </a:p>
          <a:p>
            <a:pPr>
              <a:buChar char="•"/>
            </a:pPr>
            <a:r>
              <a:rPr sz="2400"/>
              <a:t>Offline-first, mobile compute focus</a:t>
            </a:r>
            <a:endParaRPr sz="2400"/>
          </a:p>
        </p:txBody>
      </p:sp>
    </p:spTree>
  </p:cSld>
  <p:clrMapOvr>
    <a:masterClrMapping/>
  </p:clrMapOvr>
</p:sld>
</file>

<file path=ppt/slides/slide2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</a:xfrm>
      </p:grpSpPr>
      <p:sp>
        <p:nvSpPr>
          <p:cNvPr id="2" name="Title"/>
          <p:cNvSpPr txBox="1"/>
          <p:nvPr/>
        </p:nvSpPr>
        <p:spPr>
          <a:xfrm>
            <a:off x="457200" y="228600"/>
            <a:ext cx="8229600" cy="685800"/>
          </a:xfrm>
          <a:prstGeom prst="rect">
            <a:avLst/>
          </a:prstGeom>
        </p:spPr>
        <p:txBody>
          <a:bodyPr wrap="square"/>
          <a:lstStyle/>
          <a:p>
            <a:pPr>
              <a:buNone/>
            </a:pPr>
            <a:r>
              <a:rPr sz="3600" b="1"/>
              <a:t>Problem</a:t>
            </a:r>
            <a:endParaRPr sz="3600"/>
          </a:p>
        </p:txBody>
      </p:sp>
      <p:sp>
        <p:nvSpPr>
          <p:cNvPr id="3" name="Body"/>
          <p:cNvSpPr txBox="1"/>
          <p:nvPr/>
        </p:nvSpPr>
        <p:spPr>
          <a:xfrm>
            <a:off x="685800" y="1143000"/>
            <a:ext cx="7772400" cy="3429000"/>
          </a:xfrm>
          <a:prstGeom prst="rect">
            <a:avLst/>
          </a:prstGeom>
        </p:spPr>
        <p:txBody>
          <a:bodyPr wrap="square"/>
          <a:lstStyle/>
          <a:p>
            <a:pPr>
              <a:buChar char="•"/>
            </a:pPr>
            <a:r>
              <a:rPr sz="2400"/>
              <a:t>Cloud AI is costly and slow for regulated workflows</a:t>
            </a:r>
            <a:endParaRPr sz="2400"/>
          </a:p>
          <a:p>
            <a:pPr>
              <a:buChar char="•"/>
            </a:pPr>
            <a:r>
              <a:rPr sz="2400"/>
              <a:t>Privacy and data sovereignty are hard to guarantee</a:t>
            </a:r>
            <a:endParaRPr sz="2400"/>
          </a:p>
          <a:p>
            <a:pPr>
              <a:buChar char="•"/>
            </a:pPr>
            <a:r>
              <a:rPr sz="2400"/>
              <a:t>Latency blocks real-time, on-device coding</a:t>
            </a:r>
            <a:endParaRPr sz="2400"/>
          </a:p>
        </p:txBody>
      </p:sp>
    </p:spTree>
  </p:cSld>
  <p:clrMapOvr>
    <a:masterClrMapping/>
  </p:clrMapOvr>
</p:sld>
</file>

<file path=ppt/slides/slide3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</a:xfrm>
      </p:grpSpPr>
      <p:sp>
        <p:nvSpPr>
          <p:cNvPr id="2" name="Title"/>
          <p:cNvSpPr txBox="1"/>
          <p:nvPr/>
        </p:nvSpPr>
        <p:spPr>
          <a:xfrm>
            <a:off x="457200" y="228600"/>
            <a:ext cx="8229600" cy="685800"/>
          </a:xfrm>
          <a:prstGeom prst="rect">
            <a:avLst/>
          </a:prstGeom>
        </p:spPr>
        <p:txBody>
          <a:bodyPr wrap="square"/>
          <a:lstStyle/>
          <a:p>
            <a:pPr>
              <a:buNone/>
            </a:pPr>
            <a:r>
              <a:rPr sz="3600" b="1"/>
              <a:t>Solution</a:t>
            </a:r>
            <a:endParaRPr sz="3600"/>
          </a:p>
        </p:txBody>
      </p:sp>
      <p:sp>
        <p:nvSpPr>
          <p:cNvPr id="3" name="Body"/>
          <p:cNvSpPr txBox="1"/>
          <p:nvPr/>
        </p:nvSpPr>
        <p:spPr>
          <a:xfrm>
            <a:off x="685800" y="1143000"/>
            <a:ext cx="7772400" cy="3429000"/>
          </a:xfrm>
          <a:prstGeom prst="rect">
            <a:avLst/>
          </a:prstGeom>
        </p:spPr>
        <p:txBody>
          <a:bodyPr wrap="square"/>
          <a:lstStyle/>
          <a:p>
            <a:pPr>
              <a:buChar char="•"/>
            </a:pPr>
            <a:r>
              <a:rPr sz="2400"/>
              <a:t>On-device inference with BitNet 1.58-bit quantization</a:t>
            </a:r>
            <a:endParaRPr sz="2400"/>
          </a:p>
          <a:p>
            <a:pPr>
              <a:buChar char="•"/>
            </a:pPr>
            <a:r>
              <a:rPr sz="2400"/>
              <a:t>LiquidRouter MoE for stable, efficient routing</a:t>
            </a:r>
            <a:endParaRPr sz="2400"/>
          </a:p>
          <a:p>
            <a:pPr>
              <a:buChar char="•"/>
            </a:pPr>
            <a:r>
              <a:rPr sz="2400"/>
              <a:t>Long-context attention optimized for code</a:t>
            </a:r>
            <a:endParaRPr sz="2400"/>
          </a:p>
        </p:txBody>
      </p:sp>
    </p:spTree>
  </p:cSld>
  <p:clrMapOvr>
    <a:masterClrMapping/>
  </p:clrMapOvr>
</p:sld>
</file>

<file path=ppt/slides/slide4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</a:xfrm>
      </p:grpSpPr>
      <p:sp>
        <p:nvSpPr>
          <p:cNvPr id="2" name="Title"/>
          <p:cNvSpPr txBox="1"/>
          <p:nvPr/>
        </p:nvSpPr>
        <p:spPr>
          <a:xfrm>
            <a:off x="457200" y="228600"/>
            <a:ext cx="8229600" cy="685800"/>
          </a:xfrm>
          <a:prstGeom prst="rect">
            <a:avLst/>
          </a:prstGeom>
        </p:spPr>
        <p:txBody>
          <a:bodyPr wrap="square"/>
          <a:lstStyle/>
          <a:p>
            <a:pPr>
              <a:buNone/>
            </a:pPr>
            <a:r>
              <a:rPr sz="3600" b="1"/>
              <a:t>Product</a:t>
            </a:r>
            <a:endParaRPr sz="3600"/>
          </a:p>
        </p:txBody>
      </p:sp>
      <p:sp>
        <p:nvSpPr>
          <p:cNvPr id="3" name="Body"/>
          <p:cNvSpPr txBox="1"/>
          <p:nvPr/>
        </p:nvSpPr>
        <p:spPr>
          <a:xfrm>
            <a:off x="685800" y="1143000"/>
            <a:ext cx="7772400" cy="3429000"/>
          </a:xfrm>
          <a:prstGeom prst="rect">
            <a:avLst/>
          </a:prstGeom>
        </p:spPr>
        <p:txBody>
          <a:bodyPr wrap="square"/>
          <a:lstStyle/>
          <a:p>
            <a:pPr>
              <a:buChar char="•"/>
            </a:pPr>
            <a:r>
              <a:rPr sz="2400"/>
              <a:t>2.6B parameter target model for coding</a:t>
            </a:r>
            <a:endParaRPr sz="2400"/>
          </a:p>
          <a:p>
            <a:pPr>
              <a:buChar char="•"/>
            </a:pPr>
            <a:r>
              <a:rPr sz="2400"/>
              <a:t>Offline operation on mobile-class hardware</a:t>
            </a:r>
            <a:endParaRPr sz="2400"/>
          </a:p>
          <a:p>
            <a:pPr>
              <a:buChar char="•"/>
            </a:pPr>
            <a:r>
              <a:rPr sz="2400"/>
              <a:t>Security-first with reproducibility gates</a:t>
            </a:r>
            <a:endParaRPr sz="2400"/>
          </a:p>
        </p:txBody>
      </p:sp>
    </p:spTree>
  </p:cSld>
  <p:clrMapOvr>
    <a:masterClrMapping/>
  </p:clrMapOvr>
</p:sld>
</file>

<file path=ppt/slides/slide5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</a:xfrm>
      </p:grpSpPr>
      <p:sp>
        <p:nvSpPr>
          <p:cNvPr id="2" name="Title"/>
          <p:cNvSpPr txBox="1"/>
          <p:nvPr/>
        </p:nvSpPr>
        <p:spPr>
          <a:xfrm>
            <a:off x="457200" y="228600"/>
            <a:ext cx="8229600" cy="685800"/>
          </a:xfrm>
          <a:prstGeom prst="rect">
            <a:avLst/>
          </a:prstGeom>
        </p:spPr>
        <p:txBody>
          <a:bodyPr wrap="square"/>
          <a:lstStyle/>
          <a:p>
            <a:pPr>
              <a:buNone/>
            </a:pPr>
            <a:r>
              <a:rPr sz="3600" b="1"/>
              <a:t>Architecture Highlights</a:t>
            </a:r>
            <a:endParaRPr sz="3600"/>
          </a:p>
        </p:txBody>
      </p:sp>
      <p:sp>
        <p:nvSpPr>
          <p:cNvPr id="3" name="Body"/>
          <p:cNvSpPr txBox="1"/>
          <p:nvPr/>
        </p:nvSpPr>
        <p:spPr>
          <a:xfrm>
            <a:off x="685800" y="1143000"/>
            <a:ext cx="7772400" cy="3429000"/>
          </a:xfrm>
          <a:prstGeom prst="rect">
            <a:avLst/>
          </a:prstGeom>
        </p:spPr>
        <p:txBody>
          <a:bodyPr wrap="square"/>
          <a:lstStyle/>
          <a:p>
            <a:pPr>
              <a:buChar char="•"/>
            </a:pPr>
            <a:r>
              <a:rPr sz="2400"/>
              <a:t>BitLinear + Liquid Neural Networks</a:t>
            </a:r>
            <a:endParaRPr sz="2400"/>
          </a:p>
          <a:p>
            <a:pPr>
              <a:buChar char="•"/>
            </a:pPr>
            <a:r>
              <a:rPr sz="2400"/>
              <a:t>MLA attention with long-context readiness</a:t>
            </a:r>
            <a:endParaRPr sz="2400"/>
          </a:p>
          <a:p>
            <a:pPr>
              <a:buChar char="•"/>
            </a:pPr>
            <a:r>
              <a:rPr sz="2400"/>
              <a:t>Sparse MoE with temporal routing</a:t>
            </a:r>
            <a:endParaRPr sz="2400"/>
          </a:p>
        </p:txBody>
      </p:sp>
    </p:spTree>
  </p:cSld>
  <p:clrMapOvr>
    <a:masterClrMapping/>
  </p:clrMapOvr>
</p:sld>
</file>

<file path=ppt/slides/slide6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</a:xfrm>
      </p:grpSpPr>
      <p:sp>
        <p:nvSpPr>
          <p:cNvPr id="2" name="Title"/>
          <p:cNvSpPr txBox="1"/>
          <p:nvPr/>
        </p:nvSpPr>
        <p:spPr>
          <a:xfrm>
            <a:off x="457200" y="228600"/>
            <a:ext cx="8229600" cy="685800"/>
          </a:xfrm>
          <a:prstGeom prst="rect">
            <a:avLst/>
          </a:prstGeom>
        </p:spPr>
        <p:txBody>
          <a:bodyPr wrap="square"/>
          <a:lstStyle/>
          <a:p>
            <a:pPr>
              <a:buNone/>
            </a:pPr>
            <a:r>
              <a:rPr sz="3600" b="1"/>
              <a:t>Safety &amp; Reliability</a:t>
            </a:r>
            <a:endParaRPr sz="3600"/>
          </a:p>
        </p:txBody>
      </p:sp>
      <p:sp>
        <p:nvSpPr>
          <p:cNvPr id="3" name="Body"/>
          <p:cNvSpPr txBox="1"/>
          <p:nvPr/>
        </p:nvSpPr>
        <p:spPr>
          <a:xfrm>
            <a:off x="685800" y="1143000"/>
            <a:ext cx="7772400" cy="3429000"/>
          </a:xfrm>
          <a:prstGeom prst="rect">
            <a:avLst/>
          </a:prstGeom>
        </p:spPr>
        <p:txBody>
          <a:bodyPr wrap="square"/>
          <a:lstStyle/>
          <a:p>
            <a:pPr>
              <a:buChar char="•"/>
            </a:pPr>
            <a:r>
              <a:rPr sz="2400"/>
              <a:t>Kill-switch for non-finite stability events</a:t>
            </a:r>
            <a:endParaRPr sz="2400"/>
          </a:p>
          <a:p>
            <a:pPr>
              <a:buChar char="•"/>
            </a:pPr>
            <a:r>
              <a:rPr sz="2400"/>
              <a:t>Failure budget and pivot triggers</a:t>
            </a:r>
            <a:endParaRPr sz="2400"/>
          </a:p>
          <a:p>
            <a:pPr>
              <a:buChar char="•"/>
            </a:pPr>
            <a:r>
              <a:rPr sz="2400"/>
              <a:t>Checkpoint restore drills and reproducibility stamp</a:t>
            </a:r>
            <a:endParaRPr sz="2400"/>
          </a:p>
        </p:txBody>
      </p:sp>
    </p:spTree>
  </p:cSld>
  <p:clrMapOvr>
    <a:masterClrMapping/>
  </p:clrMapOvr>
</p:sld>
</file>

<file path=ppt/slides/slide7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</a:xfrm>
      </p:grpSpPr>
      <p:sp>
        <p:nvSpPr>
          <p:cNvPr id="2" name="Title"/>
          <p:cNvSpPr txBox="1"/>
          <p:nvPr/>
        </p:nvSpPr>
        <p:spPr>
          <a:xfrm>
            <a:off x="457200" y="228600"/>
            <a:ext cx="8229600" cy="685800"/>
          </a:xfrm>
          <a:prstGeom prst="rect">
            <a:avLst/>
          </a:prstGeom>
        </p:spPr>
        <p:txBody>
          <a:bodyPr wrap="square"/>
          <a:lstStyle/>
          <a:p>
            <a:pPr>
              <a:buNone/>
            </a:pPr>
            <a:r>
              <a:rPr sz="3600" b="1"/>
              <a:t>Evaluation Plan</a:t>
            </a:r>
            <a:endParaRPr sz="3600"/>
          </a:p>
        </p:txBody>
      </p:sp>
      <p:sp>
        <p:nvSpPr>
          <p:cNvPr id="3" name="Body"/>
          <p:cNvSpPr txBox="1"/>
          <p:nvPr/>
        </p:nvSpPr>
        <p:spPr>
          <a:xfrm>
            <a:off x="685800" y="1143000"/>
            <a:ext cx="7772400" cy="3429000"/>
          </a:xfrm>
          <a:prstGeom prst="rect">
            <a:avLst/>
          </a:prstGeom>
        </p:spPr>
        <p:txBody>
          <a:bodyPr wrap="square"/>
          <a:lstStyle/>
          <a:p>
            <a:pPr>
              <a:buChar char="•"/>
            </a:pPr>
            <a:r>
              <a:rPr sz="2400"/>
              <a:t>Golden sample suite (50 prompts)</a:t>
            </a:r>
            <a:endParaRPr sz="2400"/>
          </a:p>
          <a:p>
            <a:pPr>
              <a:buChar char="•"/>
            </a:pPr>
            <a:r>
              <a:rPr sz="2400"/>
              <a:t>HumanEval/MBPP output generation</a:t>
            </a:r>
            <a:endParaRPr sz="2400"/>
          </a:p>
          <a:p>
            <a:pPr>
              <a:buChar char="•"/>
            </a:pPr>
            <a:r>
              <a:rPr sz="2400"/>
              <a:t>Full 1MB overfit gate on training hardware</a:t>
            </a:r>
            <a:endParaRPr sz="2400"/>
          </a:p>
        </p:txBody>
      </p:sp>
    </p:spTree>
  </p:cSld>
  <p:clrMapOvr>
    <a:masterClrMapping/>
  </p:clrMapOvr>
</p:sld>
</file>

<file path=ppt/slides/slide8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</a:xfrm>
      </p:grpSpPr>
      <p:sp>
        <p:nvSpPr>
          <p:cNvPr id="2" name="Title"/>
          <p:cNvSpPr txBox="1"/>
          <p:nvPr/>
        </p:nvSpPr>
        <p:spPr>
          <a:xfrm>
            <a:off x="457200" y="228600"/>
            <a:ext cx="8229600" cy="685800"/>
          </a:xfrm>
          <a:prstGeom prst="rect">
            <a:avLst/>
          </a:prstGeom>
        </p:spPr>
        <p:txBody>
          <a:bodyPr wrap="square"/>
          <a:lstStyle/>
          <a:p>
            <a:pPr>
              <a:buNone/>
            </a:pPr>
            <a:r>
              <a:rPr sz="3600" b="1"/>
              <a:t>Market &amp; Use Cases</a:t>
            </a:r>
            <a:endParaRPr sz="3600"/>
          </a:p>
        </p:txBody>
      </p:sp>
      <p:sp>
        <p:nvSpPr>
          <p:cNvPr id="3" name="Body"/>
          <p:cNvSpPr txBox="1"/>
          <p:nvPr/>
        </p:nvSpPr>
        <p:spPr>
          <a:xfrm>
            <a:off x="685800" y="1143000"/>
            <a:ext cx="7772400" cy="3429000"/>
          </a:xfrm>
          <a:prstGeom prst="rect">
            <a:avLst/>
          </a:prstGeom>
        </p:spPr>
        <p:txBody>
          <a:bodyPr wrap="square"/>
          <a:lstStyle/>
          <a:p>
            <a:pPr>
              <a:buChar char="•"/>
            </a:pPr>
            <a:r>
              <a:rPr sz="2400"/>
              <a:t>Regulated enterprises and defense workflows</a:t>
            </a:r>
            <a:endParaRPr sz="2400"/>
          </a:p>
          <a:p>
            <a:pPr>
              <a:buChar char="•"/>
            </a:pPr>
            <a:r>
              <a:rPr sz="2400"/>
              <a:t>On-device copilots for low-connectivity regions</a:t>
            </a:r>
            <a:endParaRPr sz="2400"/>
          </a:p>
          <a:p>
            <a:pPr>
              <a:buChar char="•"/>
            </a:pPr>
            <a:r>
              <a:rPr sz="2400"/>
              <a:t>Private inference stacks with data control</a:t>
            </a:r>
            <a:endParaRPr sz="2400"/>
          </a:p>
        </p:txBody>
      </p:sp>
    </p:spTree>
  </p:cSld>
  <p:clrMapOvr>
    <a:masterClrMapping/>
  </p:clrMapOvr>
</p:sld>
</file>

<file path=ppt/slides/slide9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</a:xfrm>
      </p:grpSpPr>
      <p:sp>
        <p:nvSpPr>
          <p:cNvPr id="2" name="Title"/>
          <p:cNvSpPr txBox="1"/>
          <p:nvPr/>
        </p:nvSpPr>
        <p:spPr>
          <a:xfrm>
            <a:off x="457200" y="228600"/>
            <a:ext cx="8229600" cy="685800"/>
          </a:xfrm>
          <a:prstGeom prst="rect">
            <a:avLst/>
          </a:prstGeom>
        </p:spPr>
        <p:txBody>
          <a:bodyPr wrap="square"/>
          <a:lstStyle/>
          <a:p>
            <a:pPr>
              <a:buNone/>
            </a:pPr>
            <a:r>
              <a:rPr sz="3600" b="1"/>
              <a:t>Roadmap</a:t>
            </a:r>
            <a:endParaRPr sz="3600"/>
          </a:p>
        </p:txBody>
      </p:sp>
      <p:sp>
        <p:nvSpPr>
          <p:cNvPr id="3" name="Body"/>
          <p:cNvSpPr txBox="1"/>
          <p:nvPr/>
        </p:nvSpPr>
        <p:spPr>
          <a:xfrm>
            <a:off x="685800" y="1143000"/>
            <a:ext cx="7772400" cy="3429000"/>
          </a:xfrm>
          <a:prstGeom prst="rect">
            <a:avLst/>
          </a:prstGeom>
        </p:spPr>
        <p:txBody>
          <a:bodyPr wrap="square"/>
          <a:lstStyle/>
          <a:p>
            <a:pPr>
              <a:buChar char="•"/>
            </a:pPr>
            <a:r>
              <a:rPr sz="2400"/>
              <a:t>Master run (2.6B) with telemetry gates</a:t>
            </a:r>
            <a:endParaRPr sz="2400"/>
          </a:p>
          <a:p>
            <a:pPr>
              <a:buChar char="•"/>
            </a:pPr>
            <a:r>
              <a:rPr sz="2400"/>
              <a:t>Benchmark validation + pilot deployments</a:t>
            </a:r>
            <a:endParaRPr sz="2400"/>
          </a:p>
          <a:p>
            <a:pPr>
              <a:buChar char="•"/>
            </a:pPr>
            <a:r>
              <a:rPr sz="2400"/>
              <a:t>Asset stack + demo video for launch</a:t>
            </a:r>
            <a:endParaRPr sz="2400"/>
          </a:p>
        </p:txBody>
      </p:sp>
    </p:spTree>
  </p:cSld>
  <p:clrMapOvr>
    <a:masterClrMapping/>
  </p:clrMapOvr>
</p:sld>
</file>

<file path=ppt/slides/slide10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</a:xfrm>
      </p:grpSpPr>
      <p:sp>
        <p:nvSpPr>
          <p:cNvPr id="2" name="Title"/>
          <p:cNvSpPr txBox="1"/>
          <p:nvPr/>
        </p:nvSpPr>
        <p:spPr>
          <a:xfrm>
            <a:off x="457200" y="228600"/>
            <a:ext cx="8229600" cy="685800"/>
          </a:xfrm>
          <a:prstGeom prst="rect">
            <a:avLst/>
          </a:prstGeom>
        </p:spPr>
        <p:txBody>
          <a:bodyPr wrap="square"/>
          <a:lstStyle/>
          <a:p>
            <a:pPr>
              <a:buNone/>
            </a:pPr>
            <a:r>
              <a:rPr sz="3600" b="1"/>
              <a:t>Ask</a:t>
            </a:r>
            <a:endParaRPr sz="3600"/>
          </a:p>
        </p:txBody>
      </p:sp>
      <p:sp>
        <p:nvSpPr>
          <p:cNvPr id="3" name="Body"/>
          <p:cNvSpPr txBox="1"/>
          <p:nvPr/>
        </p:nvSpPr>
        <p:spPr>
          <a:xfrm>
            <a:off x="685800" y="1143000"/>
            <a:ext cx="7772400" cy="3429000"/>
          </a:xfrm>
          <a:prstGeom prst="rect">
            <a:avLst/>
          </a:prstGeom>
        </p:spPr>
        <p:txBody>
          <a:bodyPr wrap="square"/>
          <a:lstStyle/>
          <a:p>
            <a:pPr>
              <a:buChar char="•"/>
            </a:pPr>
            <a:r>
              <a:rPr sz="2400"/>
              <a:t>Pilot partners for edge coding workflows</a:t>
            </a:r>
            <a:endParaRPr sz="2400"/>
          </a:p>
          <a:p>
            <a:pPr>
              <a:buChar char="•"/>
            </a:pPr>
            <a:r>
              <a:rPr sz="2400"/>
              <a:t>Infrastructure credits for training runs</a:t>
            </a:r>
            <a:endParaRPr sz="2400"/>
          </a:p>
          <a:p>
            <a:pPr>
              <a:buChar char="•"/>
            </a:pPr>
            <a:r>
              <a:rPr sz="2400"/>
              <a:t>Strategic advisors for deployment validation</a:t>
            </a:r>
            <a:endParaRPr sz="240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1F1F"/>
      </a:dk2>
      <a:lt2>
        <a:srgbClr val="EEEEEE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</a:majorFont>
      <a:minorFont>
        <a:latin typeface="Calibri"/>
      </a:minorFont>
    </a:fontScheme>
    <a:fmtScheme name="Office">
      <a:fillStyleLst/>
      <a:lnStyleLst/>
      <a:effectStyleLst/>
      <a:bgFillStyleLst/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Application>MertFormer Deck Builder</Applicat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MertFormer Titan Investor Deck</dc:title>
  <dc:creator>MertFormer</dc:creator>
  <cp:lastModifiedBy>MertFormer</cp:lastModifiedBy>
  <dcterms:created xsi:type="dcterms:W3CDTF">2026-02-03T20:27:07Z</dcterms:created>
  <dcterms:modified xsi:type="dcterms:W3CDTF">2026-02-03T20:27:07Z</dcterms:modified>
</cp:coreProperties>
</file>